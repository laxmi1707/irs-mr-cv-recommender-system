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19F4247-695C-465D-AA34-7B5EB65A65FE}">
  <a:tblStyle styleId="{019F4247-695C-465D-AA34-7B5EB65A65F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bb272fa9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dbb272fa9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dbb272fa9e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731520" y="731520"/>
            <a:ext cx="76809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INTELLIGENT CANDIDATE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RANKING SYSTEM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731520" y="27432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System Design &amp; Technical Deep-Dive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731520" y="36576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ISY5001 — IRS Practice Module  |  Group 04  |  NUS-ISS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731520" y="411480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Lakshmi B. Chamoli  ·  Sangeeta Bahrani  ·  Stalin Sagayaraj  ·  Muthaiah 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Supervisor: Dr. Gary Leung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F3864"/>
                </a:solidFill>
                <a:latin typeface="Georgia"/>
                <a:ea typeface="Georgia"/>
                <a:cs typeface="Georgia"/>
                <a:sym typeface="Georgia"/>
              </a:rPr>
              <a:t>End-to-End Pipeline (6 Steps)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548640" y="1143000"/>
            <a:ext cx="411480" cy="411480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548640" y="11430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1097280" y="109728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RAG / Vector Store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3383280" y="1097280"/>
            <a:ext cx="5303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ChromaDB persists résumé embeddings; SHA-256 deduplication; cosine retrieval scoped per JD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48640" y="1783080"/>
            <a:ext cx="411480" cy="41148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548640" y="17830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1097280" y="173736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Eligibility Engine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3383280" y="1737360"/>
            <a:ext cx="5303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4 forward-chaining production rules with SBERT fallback; filter fundamentally unrelated profiles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48640" y="2423160"/>
            <a:ext cx="411480" cy="411480"/>
          </a:xfrm>
          <a:prstGeom prst="ellipse">
            <a:avLst/>
          </a:prstGeom>
          <a:solidFill>
            <a:srgbClr val="E87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548640" y="242316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1097280" y="237744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Expert Flags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3383280" y="2377440"/>
            <a:ext cx="5303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6 strict T/F flags: Relocation, Work-Visa, Leadership, High-Potential, Overqualification, Availability-Risk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548640" y="3063240"/>
            <a:ext cx="411480" cy="411480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548640" y="30632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097280" y="30175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5-D Scoring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3383280" y="3017520"/>
            <a:ext cx="5303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Technical Skills (</a:t>
            </a: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SBERT</a:t>
            </a: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+ Apriori), Experience (bell curve), Education (ordinal), Availability (tiered), Miscellaneous(SBERT)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548640" y="3703320"/>
            <a:ext cx="411480" cy="41148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548640" y="37033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097280" y="365760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GA Weights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3383280" y="3657600"/>
            <a:ext cx="5303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Offline per-category weight optimisation via Genetic Algorithm; Kendall-τ + MAE composite fitness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548640" y="4343400"/>
            <a:ext cx="411480" cy="411480"/>
          </a:xfrm>
          <a:prstGeom prst="ellipse">
            <a:avLst/>
          </a:prstGeom>
          <a:solidFill>
            <a:srgbClr val="E87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548640" y="43434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097280" y="429768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Best-First Ranking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3383280" y="4297680"/>
            <a:ext cx="5303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heapq priority queue (Greedy Best-First Search); O(N log N); N/A candidates appended at 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F3864"/>
                </a:solidFill>
                <a:latin typeface="Georgia"/>
                <a:ea typeface="Georgia"/>
                <a:cs typeface="Georgia"/>
                <a:sym typeface="Georgia"/>
              </a:rPr>
              <a:t>IRS Technique Group Mapping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365760" y="1188720"/>
            <a:ext cx="1965960" cy="3291840"/>
          </a:xfrm>
          <a:prstGeom prst="rect">
            <a:avLst/>
          </a:prstGeom>
          <a:solidFill>
            <a:srgbClr val="F0F4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365760" y="1188720"/>
            <a:ext cx="1965960" cy="50292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65760" y="118872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Decision Automation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502920" y="1828800"/>
            <a:ext cx="169164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Forward-chaining eligibility rules.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Expert-flag KB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Deterministic reasoning trace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2514600" y="1188720"/>
            <a:ext cx="1965960" cy="3291840"/>
          </a:xfrm>
          <a:prstGeom prst="rect">
            <a:avLst/>
          </a:prstGeom>
          <a:solidFill>
            <a:srgbClr val="F0F4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2514600" y="1188720"/>
            <a:ext cx="1965960" cy="5029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2514600" y="118872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Discovery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2651760" y="1828800"/>
            <a:ext cx="169164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Sentence-BERT (all-MiniLM-L6-v2)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Apriori skill co-occurrence rules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Content-based similarity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4663440" y="1188720"/>
            <a:ext cx="1965960" cy="3291840"/>
          </a:xfrm>
          <a:prstGeom prst="rect">
            <a:avLst/>
          </a:prstGeom>
          <a:solidFill>
            <a:srgbClr val="F0F4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4663440" y="1188720"/>
            <a:ext cx="1965960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4663440" y="118872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Business Optimisation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4800600" y="1828800"/>
            <a:ext cx="169164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Genetic Algorithm (offline)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Greedy Best-First Search (runtime)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Per-category weight lookup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6812280" y="1188720"/>
            <a:ext cx="1965960" cy="3291840"/>
          </a:xfrm>
          <a:prstGeom prst="rect">
            <a:avLst/>
          </a:prstGeom>
          <a:solidFill>
            <a:srgbClr val="F0F4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6812280" y="1188720"/>
            <a:ext cx="1965960" cy="50292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6812280" y="118872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Cognitive / XAI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6949440" y="1828800"/>
            <a:ext cx="169164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Rule-based Justification Engine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XAI Dashboard (HTML/JS)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Full reasoning-chain rendering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F3864"/>
                </a:solidFill>
                <a:latin typeface="Georgia"/>
                <a:ea typeface="Georgia"/>
                <a:cs typeface="Georgia"/>
                <a:sym typeface="Georgia"/>
              </a:rPr>
              <a:t>Step 1: Eligibility Engine — Forward Chaining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eligibility_engine.py  ·  516 lines  ·  4 sequentially-fired production rules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457200" y="1280160"/>
            <a:ext cx="8229600" cy="77724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640080" y="12801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Rule 1 — Unrelated Profession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640080" y="155448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Word-boundary regex + profession-family detection (PROFESSION_FAMILIES dict). SBERT semantic-similarity fallback at threshold 0.30 for unseen professions. Example: 'yoga teacher' applying for 'backend engineer' → N/A.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6858000" y="1280160"/>
            <a:ext cx="1645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N/A if fundamentally unrelated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457200" y="2194560"/>
            <a:ext cx="82296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640080" y="21945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Rule 2 — Zero Skill Overlap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640080" y="246888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Fires only when the candidate has ≥3 listed skills AND zero match with JD skills across keyword + SBERT (0.65) matching. Protects cross-domain applicants who have some overlap.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6858000" y="2194560"/>
            <a:ext cx="1645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N/A if zero intersection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457200" y="3108960"/>
            <a:ext cx="8229600" cy="77724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640080" y="31089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Rule 3 — Experience Window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640080" y="338328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10% tolerance band on the JD floor. Range-mode JDs ('4–11 years') enforce both lower and upper bounds. Pure freshers (0y) against senior roles → N/A.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6858000" y="3108960"/>
            <a:ext cx="1645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N/A if outside tolerance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457200" y="4023360"/>
            <a:ext cx="82296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640080" y="40233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Rule 4 — Education Floor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640080" y="429768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Specialised-stream guard (LLB, MBBS, B.Arch). Strict Masters floor when JD requires Masters or above. Ordinal comparison: PhD &gt; Masters &gt; Bachelors &gt; Diploma.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6858000" y="4023360"/>
            <a:ext cx="1645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N/A if gap too large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Each rule produces a RuleFiring record (rule name, condition, result, explanation) → assembled into the reasoning trace.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F3864"/>
                </a:solidFill>
                <a:latin typeface="Georgia"/>
                <a:ea typeface="Georgia"/>
                <a:cs typeface="Georgia"/>
                <a:sym typeface="Georgia"/>
              </a:rPr>
              <a:t>Step 2: Expert Flags — Knowledge-Based T/F Signals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expert_flags.py  ·  6 strict True/False flags per candidate  ·  each produces a score modifier + human-readable reason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3" name="Google Shape;103;p7"/>
          <p:cNvGraphicFramePr/>
          <p:nvPr/>
        </p:nvGraphicFramePr>
        <p:xfrm>
          <a:off x="457200" y="1280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{019F4247-695C-465D-AA34-7B5EB65A65FE}</a:tableStyleId>
              </a:tblPr>
              <a:tblGrid>
                <a:gridCol w="2286000"/>
                <a:gridCol w="3474725"/>
                <a:gridCol w="2468875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Flag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Trigger Condition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Score Effect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RELOCATION_FLAG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TRUE if candidate's location ≠ JD location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Penalises availability/logistics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WORK_VISA_FLAG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TRUE if visa/sponsorship keywords found in résumé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Signals potential HR overhead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LEADERSHIP_MATCH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TRUE if leadership keywords present AND JD requires leadership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Boosts miscellaneous score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HIGH_POTENTIAL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TRUE if experience &lt; JD requirement but skills score ≥ 70%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Marks 'stretch' candidates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OVERQUALIFICATION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TRUE if experience ≥ 2× JD requirement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Flags flight-risk concern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AVAILABILITY_RISK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TRUE if notice period exceeds JD max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Penalises availability dimension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4" name="Google Shape;104;p7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Validated against Calypso-banking HR: 24/24 flag predictions matched (100% agreement)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F3864"/>
                </a:solidFill>
                <a:latin typeface="Georgia"/>
                <a:ea typeface="Georgia"/>
                <a:cs typeface="Georgia"/>
                <a:sym typeface="Georgia"/>
              </a:rPr>
              <a:t>Step 3: Five-Dimensional Scoring Engine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8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scoring_engine.py  ·  711 lines  ·  each candidate scored on 5 independent dimensions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Overall(c, j) = Σ  Dᵢ(c, j) × wᵢ(category(j))  ×  100    for i = 1..5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457200" y="1645920"/>
            <a:ext cx="8229600" cy="59436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8"/>
          <p:cNvSpPr/>
          <p:nvPr/>
        </p:nvSpPr>
        <p:spPr>
          <a:xfrm>
            <a:off x="548640" y="16459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D1 — Technical Skills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548640" y="192024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E7C7B"/>
                </a:solidFill>
                <a:latin typeface="Consolas"/>
                <a:ea typeface="Consolas"/>
                <a:cs typeface="Consolas"/>
                <a:sym typeface="Consolas"/>
              </a:rPr>
              <a:t>clamp₀.₃₀,₁.₀(0.75 × match_ratio + relevance + apriori)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3840480" y="1645920"/>
            <a:ext cx="4663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4-pass cascade: keyword → soft-skill (0.75) → SBERT (0.60) → latent-phrase (0.55). +0.03 per Apriori implied skill.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457200" y="2304288"/>
            <a:ext cx="82296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8"/>
          <p:cNvSpPr/>
          <p:nvPr/>
        </p:nvSpPr>
        <p:spPr>
          <a:xfrm>
            <a:off x="548640" y="230428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D2 — Experience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548640" y="257860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E7C7B"/>
                </a:solidFill>
                <a:latin typeface="Consolas"/>
                <a:ea typeface="Consolas"/>
                <a:cs typeface="Consolas"/>
                <a:sym typeface="Consolas"/>
              </a:rPr>
              <a:t>Piecewise bell curve (50% floor → 1.0 optimal → 0.55 decay)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3840480" y="2304288"/>
            <a:ext cx="4663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Lenient below requirement (50% floor for juniors); optimal at 1–1.5× JD; decays above 2.5× (overqualification).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457200" y="2962656"/>
            <a:ext cx="8229600" cy="59436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8"/>
          <p:cNvSpPr/>
          <p:nvPr/>
        </p:nvSpPr>
        <p:spPr>
          <a:xfrm>
            <a:off x="548640" y="2962656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D3 — Education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548640" y="3236976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E7C7B"/>
                </a:solidFill>
                <a:latin typeface="Consolas"/>
                <a:ea typeface="Consolas"/>
                <a:cs typeface="Consolas"/>
                <a:sym typeface="Consolas"/>
              </a:rPr>
              <a:t>Ordinal: ≥req→1.0, −1→0.75, −2→0.55, ≤−3→0.35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3840480" y="2962656"/>
            <a:ext cx="4663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PhD=5, Masters=4, Bachelors=3, Diploma=2, HighSec=1. Eligibility already filtered extreme mismatches.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457200" y="3621024"/>
            <a:ext cx="82296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8"/>
          <p:cNvSpPr/>
          <p:nvPr/>
        </p:nvSpPr>
        <p:spPr>
          <a:xfrm>
            <a:off x="548640" y="3621024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D4 — Availability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548640" y="3895344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E7C7B"/>
                </a:solidFill>
                <a:latin typeface="Consolas"/>
                <a:ea typeface="Consolas"/>
                <a:cs typeface="Consolas"/>
                <a:sym typeface="Consolas"/>
              </a:rPr>
              <a:t>Tiered: immediate=1.0 → &gt;90d=0.65 × 0.85 penalty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3840480" y="3621024"/>
            <a:ext cx="4663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Immediate=1.0, ≤14d=0.95, ≤30d=0.90, ≤60d=0.85, ≤90d=0.80, &gt;90d=0.65. 0.85× if exceeds JD max.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457200" y="4279392"/>
            <a:ext cx="8229600" cy="59436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"/>
          <p:cNvSpPr/>
          <p:nvPr/>
        </p:nvSpPr>
        <p:spPr>
          <a:xfrm>
            <a:off x="548640" y="427939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D5 — Miscellaneous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548640" y="455371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E7C7B"/>
                </a:solidFill>
                <a:latin typeface="Consolas"/>
                <a:ea typeface="Consolas"/>
                <a:cs typeface="Consolas"/>
                <a:sym typeface="Consolas"/>
              </a:rPr>
              <a:t>clamp₀.₃₀,₁.₀(0.40×title_sim + 0.30×rel + cert − gap)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3840480" y="4279392"/>
            <a:ext cx="4663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SBERT title alignment + relevance + cert bonus (+0.05/cert, max 0.20) − career-gap penalty (−0.05/gap, max 0.20).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F3864"/>
                </a:solidFill>
                <a:latin typeface="Georgia"/>
                <a:ea typeface="Georgia"/>
                <a:cs typeface="Georgia"/>
                <a:sym typeface="Georgia"/>
              </a:rPr>
              <a:t>D1 — Technical Skills: 4-Pass Cascade + Apriori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548640" y="1170432"/>
            <a:ext cx="457200" cy="457200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9"/>
          <p:cNvSpPr/>
          <p:nvPr/>
        </p:nvSpPr>
        <p:spPr>
          <a:xfrm>
            <a:off x="548640" y="117043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1143000" y="109728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Keyword Overlap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1143000" y="138988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Lower-cased exact match between résumé skill set and JD required skills.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5029200" y="109728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E7C7B"/>
                </a:solidFill>
                <a:latin typeface="Consolas"/>
                <a:ea typeface="Consolas"/>
                <a:cs typeface="Consolas"/>
                <a:sym typeface="Consolas"/>
              </a:rPr>
              <a:t>Threshold: Exact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6583680" y="1097280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python == python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548640" y="1947672"/>
            <a:ext cx="457200" cy="457200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"/>
          <p:cNvSpPr/>
          <p:nvPr/>
        </p:nvSpPr>
        <p:spPr>
          <a:xfrm>
            <a:off x="548640" y="19476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1143000" y="18745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Soft-Skill Equivalence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1143000" y="216712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Lexical-similarity heuristic catches pluralisation, abbreviations, aliases.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5029200" y="187452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E7C7B"/>
                </a:solidFill>
                <a:latin typeface="Consolas"/>
                <a:ea typeface="Consolas"/>
                <a:cs typeface="Consolas"/>
                <a:sym typeface="Consolas"/>
              </a:rPr>
              <a:t>Threshold: ≥ 0.75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6583680" y="1874520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k8s ↔ kubernetes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548640" y="2724912"/>
            <a:ext cx="457200" cy="457200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"/>
          <p:cNvSpPr/>
          <p:nvPr/>
        </p:nvSpPr>
        <p:spPr>
          <a:xfrm>
            <a:off x="548640" y="272491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1143000" y="265176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SBERT Semantic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1143000" y="294436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Dense embedding cosine similarity on residual unmatched JD skills.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5029200" y="265176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E7C7B"/>
                </a:solidFill>
                <a:latin typeface="Consolas"/>
                <a:ea typeface="Consolas"/>
                <a:cs typeface="Consolas"/>
                <a:sym typeface="Consolas"/>
              </a:rPr>
              <a:t>Threshold: ≥ 0.60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6583680" y="2651760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predictive modelling ↔ machine learning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548640" y="3502152"/>
            <a:ext cx="457200" cy="457200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"/>
          <p:cNvSpPr/>
          <p:nvPr/>
        </p:nvSpPr>
        <p:spPr>
          <a:xfrm>
            <a:off x="548640" y="350215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1143000" y="342900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Latent-Phrase Mining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1143000" y="372160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SBERT compare JD skills vs sentence-level résumé raw text segments.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5029200" y="342900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E7C7B"/>
                </a:solidFill>
                <a:latin typeface="Consolas"/>
                <a:ea typeface="Consolas"/>
                <a:cs typeface="Consolas"/>
                <a:sym typeface="Consolas"/>
              </a:rPr>
              <a:t>Threshold: ≥ 0.55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6583680" y="3429000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'banking' from 'Bank of America'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Apriori Bonus: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11 mined rules (e.g. {python, scikit-learn} → numpy, conf=0.82, lift=2.1). +0.03 per implied skill when antecedent present in résumé AND consequent in JD.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F3864"/>
                </a:solidFill>
                <a:latin typeface="Georgia"/>
                <a:ea typeface="Georgia"/>
                <a:cs typeface="Georgia"/>
                <a:sym typeface="Georgia"/>
              </a:rPr>
              <a:t>Step 4: Genetic Algorithm — Weight Optimisation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0"/>
          <p:cNvSpPr/>
          <p:nvPr/>
        </p:nvSpPr>
        <p:spPr>
          <a:xfrm>
            <a:off x="457200" y="1280160"/>
            <a:ext cx="3931920" cy="2286000"/>
          </a:xfrm>
          <a:prstGeom prst="rect">
            <a:avLst/>
          </a:prstGeom>
          <a:solidFill>
            <a:srgbClr val="F0F4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0"/>
          <p:cNvSpPr/>
          <p:nvPr/>
        </p:nvSpPr>
        <p:spPr>
          <a:xfrm>
            <a:off x="457200" y="128016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Chromosome Representation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640080" y="169164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E7C7B"/>
                </a:solidFill>
                <a:latin typeface="Consolas"/>
                <a:ea typeface="Consolas"/>
                <a:cs typeface="Consolas"/>
                <a:sym typeface="Consolas"/>
              </a:rPr>
              <a:t>[ w_skills  |  w_exp  |  w_edu  |  w_avail  |  w_misc 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640080" y="205740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Constraint: </a:t>
            </a: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Σ wᵢ = 1.0   |   Each wᵢ ∈ [0.05, 0.60]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640080" y="2468880"/>
            <a:ext cx="3566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Fitness (v10.4): </a:t>
            </a: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Kendall τ rank correlation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between GA-induced ranking and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ground-truth ranking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6" name="Google Shape;176;p10"/>
          <p:cNvGraphicFramePr/>
          <p:nvPr/>
        </p:nvGraphicFramePr>
        <p:xfrm>
          <a:off x="4663440" y="1280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{019F4247-695C-465D-AA34-7B5EB65A65FE}</a:tableStyleId>
              </a:tblPr>
              <a:tblGrid>
                <a:gridCol w="1828800"/>
                <a:gridCol w="21945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Value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Population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80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Max Generations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200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Tournament k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3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Crossover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BLX-α (α=0.5), p=0.75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Mutation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Gaussian σ=0.08, rate=0.15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Elitism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Top-2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Early-Stop Patience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12 (τ) / 25 (MAE)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  <p:sp>
        <p:nvSpPr>
          <p:cNvPr id="177" name="Google Shape;177;p10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Output: per-category CATEGORY_WEIGHTS dict loaded at runtime — data_science, software_engineering, senior, contract, finance, management, entry_level, default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Georgia"/>
                <a:ea typeface="Georgia"/>
                <a:cs typeface="Georgia"/>
                <a:sym typeface="Georgia"/>
              </a:rPr>
              <a:t>GA Output: Per-Category Weight Lookup (CATEGORY_WEIGHTS)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4" name="Google Shape;184;p11"/>
          <p:cNvGraphicFramePr/>
          <p:nvPr/>
        </p:nvGraphicFramePr>
        <p:xfrm>
          <a:off x="457200" y="1097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{019F4247-695C-465D-AA34-7B5EB65A65FE}</a:tableStyleId>
              </a:tblPr>
              <a:tblGrid>
                <a:gridCol w="2011675"/>
                <a:gridCol w="1097275"/>
                <a:gridCol w="1097275"/>
                <a:gridCol w="1097275"/>
                <a:gridCol w="1097275"/>
                <a:gridCol w="1097275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Tech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Exp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Edu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Avail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Misc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data_science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0.40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0.20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0.20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0.10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0.10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software_engineering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0.35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0.25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0.20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0.08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0.12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senior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0.28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0.32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0.15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0.12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0.13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contract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0.32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0.23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0.12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0.22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0.11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finance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0.20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0.30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0.25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0.12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0.13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management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0.18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0.28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0.20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0.14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0.20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entry_level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0.28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0.12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0.28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0.15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0.17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default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0.35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0.25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0.15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0.10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0.15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5" name="Google Shape;185;p11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detect_job_category() infers category from JD title + body via keyword scoring (title weighted 3×) with SBERT semantic fallback for unseen titles.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"/>
          <p:cNvSpPr/>
          <p:nvPr/>
        </p:nvSpPr>
        <p:spPr>
          <a:xfrm>
            <a:off x="457200" y="27432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Georgia"/>
                <a:ea typeface="Georgia"/>
                <a:cs typeface="Georgia"/>
                <a:sym typeface="Georgia"/>
              </a:rPr>
              <a:t>GA Output </a:t>
            </a:r>
            <a:r>
              <a:rPr b="1" lang="en-US" sz="2400">
                <a:solidFill>
                  <a:srgbClr val="1F3864"/>
                </a:solidFill>
                <a:latin typeface="Georgia"/>
                <a:ea typeface="Georgia"/>
                <a:cs typeface="Georgia"/>
                <a:sym typeface="Georgia"/>
              </a:rPr>
              <a:t>Comparison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" name="Google Shape;192;p12" title="image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914525"/>
            <a:ext cx="8229601" cy="3626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3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F3864"/>
                </a:solidFill>
                <a:latin typeface="Georgia"/>
                <a:ea typeface="Georgia"/>
                <a:cs typeface="Georgia"/>
                <a:sym typeface="Georgia"/>
              </a:rPr>
              <a:t>Step 5: Greedy Best-First Search Ranking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3"/>
          <p:cNvSpPr/>
          <p:nvPr/>
        </p:nvSpPr>
        <p:spPr>
          <a:xfrm>
            <a:off x="457200" y="1097280"/>
            <a:ext cx="3840480" cy="3291840"/>
          </a:xfrm>
          <a:prstGeom prst="rect">
            <a:avLst/>
          </a:prstGeom>
          <a:solidFill>
            <a:srgbClr val="F0F4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3"/>
          <p:cNvSpPr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640080" y="1554480"/>
            <a:ext cx="347472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For each eligible candidate, compute: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  overall = Σ Dᵢ × wᵢ(category)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Push (−overall, idx, candidate)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  into a min-heap (heapq)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Pop candidates in descending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  score order: rank 1, 2, 3, …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4. </a:t>
            </a: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N/A candidates bypass the heap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  and are appended at the 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3"/>
          <p:cNvSpPr/>
          <p:nvPr/>
        </p:nvSpPr>
        <p:spPr>
          <a:xfrm>
            <a:off x="4754880" y="1097280"/>
            <a:ext cx="3931920" cy="3291840"/>
          </a:xfrm>
          <a:prstGeom prst="rect">
            <a:avLst/>
          </a:prstGeom>
          <a:solidFill>
            <a:srgbClr val="F0F4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3"/>
          <p:cNvSpPr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Why Best-First (not A*)?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3"/>
          <p:cNvSpPr/>
          <p:nvPr/>
        </p:nvSpPr>
        <p:spPr>
          <a:xfrm>
            <a:off x="4937760" y="1554480"/>
            <a:ext cx="35661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Candidates are independent entities.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There is no cumulative path cost — each candidate's overall score is computed independently, so the A* formulation f(n) = g(n) + h(n) collapses to f(n) = h(n), which is exactly Greedy Best-First Search.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Complexity: O(N log 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heappush + heappop across N candidates = O(N log N), identical to sorting but implemented via a priority queue for the correct IRS technique framing.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4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F3864"/>
                </a:solidFill>
                <a:latin typeface="Georgia"/>
                <a:ea typeface="Georgia"/>
                <a:cs typeface="Georgia"/>
                <a:sym typeface="Georgia"/>
              </a:rPr>
              <a:t>Step 0: RAG Pipeline &amp; ChromaDB Vector Store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4"/>
          <p:cNvSpPr/>
          <p:nvPr/>
        </p:nvSpPr>
        <p:spPr>
          <a:xfrm>
            <a:off x="457200" y="1097280"/>
            <a:ext cx="3840480" cy="3200400"/>
          </a:xfrm>
          <a:prstGeom prst="rect">
            <a:avLst/>
          </a:prstGeom>
          <a:solidFill>
            <a:srgbClr val="F0F4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4"/>
          <p:cNvSpPr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rag_pipeline.py — Orchestration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4"/>
          <p:cNvSpPr/>
          <p:nvPr/>
        </p:nvSpPr>
        <p:spPr>
          <a:xfrm>
            <a:off x="640080" y="1554480"/>
            <a:ext cx="347472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SHA-256 deduplication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Candidate-ID minting (UUID-based)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Ingestion: parse → chunk → embed → store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Retrieval scoped by: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 • uploaded-only (new batch)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 • uploaded + existing (full pool)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Async store_uploaded_resumes()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4"/>
          <p:cNvSpPr/>
          <p:nvPr/>
        </p:nvSpPr>
        <p:spPr>
          <a:xfrm>
            <a:off x="4754880" y="1097280"/>
            <a:ext cx="3931920" cy="3200400"/>
          </a:xfrm>
          <a:prstGeom prst="rect">
            <a:avLst/>
          </a:prstGeom>
          <a:solidFill>
            <a:srgbClr val="F0F4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4"/>
          <p:cNvSpPr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chroma_resume_store.py — Storage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4"/>
          <p:cNvSpPr/>
          <p:nvPr/>
        </p:nvSpPr>
        <p:spPr>
          <a:xfrm>
            <a:off x="4937760" y="1554480"/>
            <a:ext cx="356616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ChromaDB persistent client on disk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Chunking: skills, experience, education, summary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Cosine similarity search (top-k)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Per-candidate score aggregation across chunks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Metadata: file_hash, name, email, skills list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Persists across sessions: no re-upload needed for multiple JDs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5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F3864"/>
                </a:solidFill>
                <a:latin typeface="Georgia"/>
                <a:ea typeface="Georgia"/>
                <a:cs typeface="Georgia"/>
                <a:sym typeface="Georgia"/>
              </a:rPr>
              <a:t>Technology Stack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3" name="Google Shape;223;p15"/>
          <p:cNvGraphicFramePr/>
          <p:nvPr/>
        </p:nvGraphicFramePr>
        <p:xfrm>
          <a:off x="457200" y="1005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{019F4247-695C-465D-AA34-7B5EB65A65FE}</a:tableStyleId>
              </a:tblPr>
              <a:tblGrid>
                <a:gridCol w="2743200"/>
                <a:gridCol w="5486400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Concern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Technology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Backend API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FastAPI 0.104 + Uvicorn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Resume Parsing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pdfplumber 0.11, python-docx 1.1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Semantic Similarity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sentence-transformers (all-MiniLM-L6-v2)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Vector Store / RAG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ChromaDB 0.5.5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Optimisation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Custom GA + scipy.stats.kendalltau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Informed Search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Python heapq (Best-First)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Association Rules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Apriori rules in apriori_rules.json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Frontend / XAI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Single-file HTML/CSS/JS (no framework)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Validation / Schema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Pydantic 2.5, Python 3.10+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6"/>
          <p:cNvSpPr/>
          <p:nvPr/>
        </p:nvSpPr>
        <p:spPr>
          <a:xfrm>
            <a:off x="731520" y="731520"/>
            <a:ext cx="7315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Georgia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ICRS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6"/>
          <p:cNvSpPr/>
          <p:nvPr/>
        </p:nvSpPr>
        <p:spPr>
          <a:xfrm>
            <a:off x="731520" y="18288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Smart  ·  Transparent  ·  Optimised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6"/>
          <p:cNvSpPr/>
          <p:nvPr/>
        </p:nvSpPr>
        <p:spPr>
          <a:xfrm>
            <a:off x="731520" y="2743200"/>
            <a:ext cx="73152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 IRS technique groups  ·  6-step pipeline  ·  120-row ground truth</a:t>
            </a:r>
            <a:b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MAE 6.73  ·  Kendall τ = 1.00  ·  100% eligibility agreement</a:t>
            </a:r>
            <a:br>
              <a:rPr b="1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100% flag agreement  ·  Per-category GA weights  ·  Full XAI trace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6"/>
          <p:cNvSpPr/>
          <p:nvPr/>
        </p:nvSpPr>
        <p:spPr>
          <a:xfrm>
            <a:off x="731520" y="448056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Group 04  |  NUS-ISS  |  ISY5001  |  Dr. Gary Leung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