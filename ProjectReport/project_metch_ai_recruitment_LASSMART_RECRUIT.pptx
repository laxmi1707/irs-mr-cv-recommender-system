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6" r:id="rId10"/>
    <p:sldId id="267" r:id="rId11"/>
    <p:sldId id="268" r:id="rId12"/>
    <p:sldId id="269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5" d="100"/>
          <a:sy n="105" d="100"/>
        </p:scale>
        <p:origin x="70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3435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18" Type="http://schemas.openxmlformats.org/officeDocument/2006/relationships/image" Target="../media/image36.png"/><Relationship Id="rId3" Type="http://schemas.openxmlformats.org/officeDocument/2006/relationships/image" Target="../media/image3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35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33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15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45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11" Type="http://schemas.openxmlformats.org/officeDocument/2006/relationships/image" Target="../media/image52.png"/><Relationship Id="rId5" Type="http://schemas.openxmlformats.org/officeDocument/2006/relationships/image" Target="../media/image19.png"/><Relationship Id="rId10" Type="http://schemas.openxmlformats.org/officeDocument/2006/relationships/image" Target="../media/image51.png"/><Relationship Id="rId4" Type="http://schemas.openxmlformats.org/officeDocument/2006/relationships/image" Target="../media/image46.png"/><Relationship Id="rId9" Type="http://schemas.openxmlformats.org/officeDocument/2006/relationships/image" Target="../media/image50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3.png"/><Relationship Id="rId7" Type="http://schemas.openxmlformats.org/officeDocument/2006/relationships/image" Target="../media/image35.png"/><Relationship Id="rId12" Type="http://schemas.openxmlformats.org/officeDocument/2006/relationships/image" Target="../media/image6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11" Type="http://schemas.openxmlformats.org/officeDocument/2006/relationships/image" Target="../media/image60.png"/><Relationship Id="rId5" Type="http://schemas.openxmlformats.org/officeDocument/2006/relationships/image" Target="../media/image55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9.png"/><Relationship Id="rId13" Type="http://schemas.openxmlformats.org/officeDocument/2006/relationships/image" Target="../media/image74.png"/><Relationship Id="rId18" Type="http://schemas.openxmlformats.org/officeDocument/2006/relationships/image" Target="../media/image79.png"/><Relationship Id="rId3" Type="http://schemas.openxmlformats.org/officeDocument/2006/relationships/image" Target="../media/image45.png"/><Relationship Id="rId21" Type="http://schemas.openxmlformats.org/officeDocument/2006/relationships/image" Target="../media/image82.png"/><Relationship Id="rId7" Type="http://schemas.openxmlformats.org/officeDocument/2006/relationships/image" Target="../media/image68.png"/><Relationship Id="rId12" Type="http://schemas.openxmlformats.org/officeDocument/2006/relationships/image" Target="../media/image73.png"/><Relationship Id="rId17" Type="http://schemas.openxmlformats.org/officeDocument/2006/relationships/image" Target="../media/image78.png"/><Relationship Id="rId25" Type="http://schemas.openxmlformats.org/officeDocument/2006/relationships/image" Target="../media/image86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77.png"/><Relationship Id="rId20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11" Type="http://schemas.openxmlformats.org/officeDocument/2006/relationships/image" Target="../media/image72.png"/><Relationship Id="rId24" Type="http://schemas.openxmlformats.org/officeDocument/2006/relationships/image" Target="../media/image85.png"/><Relationship Id="rId5" Type="http://schemas.openxmlformats.org/officeDocument/2006/relationships/image" Target="../media/image66.png"/><Relationship Id="rId15" Type="http://schemas.openxmlformats.org/officeDocument/2006/relationships/image" Target="../media/image76.png"/><Relationship Id="rId23" Type="http://schemas.openxmlformats.org/officeDocument/2006/relationships/image" Target="../media/image84.png"/><Relationship Id="rId10" Type="http://schemas.openxmlformats.org/officeDocument/2006/relationships/image" Target="../media/image71.png"/><Relationship Id="rId19" Type="http://schemas.openxmlformats.org/officeDocument/2006/relationships/image" Target="../media/image80.png"/><Relationship Id="rId4" Type="http://schemas.openxmlformats.org/officeDocument/2006/relationships/image" Target="../media/image65.png"/><Relationship Id="rId9" Type="http://schemas.openxmlformats.org/officeDocument/2006/relationships/image" Target="../media/image70.png"/><Relationship Id="rId14" Type="http://schemas.openxmlformats.org/officeDocument/2006/relationships/image" Target="../media/image75.png"/><Relationship Id="rId22" Type="http://schemas.openxmlformats.org/officeDocument/2006/relationships/image" Target="../media/image83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2.png"/><Relationship Id="rId13" Type="http://schemas.openxmlformats.org/officeDocument/2006/relationships/image" Target="../media/image97.png"/><Relationship Id="rId18" Type="http://schemas.openxmlformats.org/officeDocument/2006/relationships/image" Target="../media/image102.png"/><Relationship Id="rId3" Type="http://schemas.openxmlformats.org/officeDocument/2006/relationships/image" Target="../media/image87.png"/><Relationship Id="rId7" Type="http://schemas.openxmlformats.org/officeDocument/2006/relationships/image" Target="../media/image91.png"/><Relationship Id="rId12" Type="http://schemas.openxmlformats.org/officeDocument/2006/relationships/image" Target="../media/image96.png"/><Relationship Id="rId17" Type="http://schemas.openxmlformats.org/officeDocument/2006/relationships/image" Target="../media/image101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0.png"/><Relationship Id="rId11" Type="http://schemas.openxmlformats.org/officeDocument/2006/relationships/image" Target="../media/image95.png"/><Relationship Id="rId5" Type="http://schemas.openxmlformats.org/officeDocument/2006/relationships/image" Target="../media/image89.png"/><Relationship Id="rId15" Type="http://schemas.openxmlformats.org/officeDocument/2006/relationships/image" Target="../media/image99.png"/><Relationship Id="rId10" Type="http://schemas.openxmlformats.org/officeDocument/2006/relationships/image" Target="../media/image94.png"/><Relationship Id="rId19" Type="http://schemas.openxmlformats.org/officeDocument/2006/relationships/image" Target="../media/image103.png"/><Relationship Id="rId4" Type="http://schemas.openxmlformats.org/officeDocument/2006/relationships/image" Target="../media/image88.png"/><Relationship Id="rId9" Type="http://schemas.openxmlformats.org/officeDocument/2006/relationships/image" Target="../media/image93.png"/><Relationship Id="rId14" Type="http://schemas.openxmlformats.org/officeDocument/2006/relationships/image" Target="../media/image98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.png"/><Relationship Id="rId3" Type="http://schemas.openxmlformats.org/officeDocument/2006/relationships/image" Target="../media/image104.png"/><Relationship Id="rId7" Type="http://schemas.openxmlformats.org/officeDocument/2006/relationships/image" Target="../media/image108.png"/><Relationship Id="rId12" Type="http://schemas.openxmlformats.org/officeDocument/2006/relationships/image" Target="../media/image1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7.png"/><Relationship Id="rId11" Type="http://schemas.openxmlformats.org/officeDocument/2006/relationships/image" Target="../media/image112.png"/><Relationship Id="rId5" Type="http://schemas.openxmlformats.org/officeDocument/2006/relationships/image" Target="../media/image106.png"/><Relationship Id="rId10" Type="http://schemas.openxmlformats.org/officeDocument/2006/relationships/image" Target="../media/image111.png"/><Relationship Id="rId4" Type="http://schemas.openxmlformats.org/officeDocument/2006/relationships/image" Target="../media/image105.png"/><Relationship Id="rId9" Type="http://schemas.openxmlformats.org/officeDocument/2006/relationships/image" Target="../media/image1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13" Type="http://schemas.openxmlformats.org/officeDocument/2006/relationships/image" Target="../media/image124.png"/><Relationship Id="rId18" Type="http://schemas.openxmlformats.org/officeDocument/2006/relationships/image" Target="../media/image129.png"/><Relationship Id="rId3" Type="http://schemas.openxmlformats.org/officeDocument/2006/relationships/image" Target="../media/image114.png"/><Relationship Id="rId7" Type="http://schemas.openxmlformats.org/officeDocument/2006/relationships/image" Target="../media/image118.png"/><Relationship Id="rId12" Type="http://schemas.openxmlformats.org/officeDocument/2006/relationships/image" Target="../media/image123.png"/><Relationship Id="rId17" Type="http://schemas.openxmlformats.org/officeDocument/2006/relationships/image" Target="../media/image128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11" Type="http://schemas.openxmlformats.org/officeDocument/2006/relationships/image" Target="../media/image122.png"/><Relationship Id="rId5" Type="http://schemas.openxmlformats.org/officeDocument/2006/relationships/image" Target="../media/image116.png"/><Relationship Id="rId15" Type="http://schemas.openxmlformats.org/officeDocument/2006/relationships/image" Target="../media/image126.png"/><Relationship Id="rId10" Type="http://schemas.openxmlformats.org/officeDocument/2006/relationships/image" Target="../media/image121.png"/><Relationship Id="rId19" Type="http://schemas.openxmlformats.org/officeDocument/2006/relationships/image" Target="../media/image130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Relationship Id="rId14" Type="http://schemas.openxmlformats.org/officeDocument/2006/relationships/image" Target="../media/image12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13" Type="http://schemas.openxmlformats.org/officeDocument/2006/relationships/image" Target="../media/image141.png"/><Relationship Id="rId3" Type="http://schemas.openxmlformats.org/officeDocument/2006/relationships/image" Target="../media/image131.png"/><Relationship Id="rId7" Type="http://schemas.openxmlformats.org/officeDocument/2006/relationships/image" Target="../media/image135.png"/><Relationship Id="rId12" Type="http://schemas.openxmlformats.org/officeDocument/2006/relationships/image" Target="../media/image1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4.png"/><Relationship Id="rId11" Type="http://schemas.openxmlformats.org/officeDocument/2006/relationships/image" Target="../media/image139.png"/><Relationship Id="rId5" Type="http://schemas.openxmlformats.org/officeDocument/2006/relationships/image" Target="../media/image133.png"/><Relationship Id="rId10" Type="http://schemas.openxmlformats.org/officeDocument/2006/relationships/image" Target="../media/image138.png"/><Relationship Id="rId4" Type="http://schemas.openxmlformats.org/officeDocument/2006/relationships/image" Target="../media/image132.png"/><Relationship Id="rId9" Type="http://schemas.openxmlformats.org/officeDocument/2006/relationships/image" Target="../media/image137.png"/><Relationship Id="rId14" Type="http://schemas.openxmlformats.org/officeDocument/2006/relationships/image" Target="../media/image1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4805" y="-1904695"/>
            <a:ext cx="8572500" cy="85725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952805" y="190195"/>
            <a:ext cx="9525305" cy="9525305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>
            <a:alphaModFix amt="1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620110" y="1131113"/>
            <a:ext cx="4953305" cy="371246"/>
          </a:xfrm>
          <a:prstGeom prst="roundRect">
            <a:avLst>
              <a:gd name="adj" fmla="val 246306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857854" y="1249985"/>
            <a:ext cx="133502" cy="133502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4068166" y="1131113"/>
            <a:ext cx="430591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2" dirty="0" err="1">
                <a:solidFill>
                  <a:srgbClr val="E0F2F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LaSSMart</a:t>
            </a:r>
            <a:r>
              <a:rPr lang="en-US" sz="1000" b="1" kern="0" spc="52" dirty="0">
                <a:solidFill>
                  <a:srgbClr val="E0F2FE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Recruit LLM + RAG-Powered Shortlisting &amp; Interview Assistance</a:t>
            </a:r>
            <a:endParaRPr lang="en-US" sz="1000" dirty="0"/>
          </a:p>
        </p:txBody>
      </p:sp>
      <p:sp>
        <p:nvSpPr>
          <p:cNvPr id="9" name="Text 3"/>
          <p:cNvSpPr txBox="1"/>
          <p:nvPr/>
        </p:nvSpPr>
        <p:spPr>
          <a:xfrm>
            <a:off x="1032358" y="1806854"/>
            <a:ext cx="10135210" cy="1448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kern="0" spc="-1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AI-Assisted Interview &amp;</a:t>
            </a:r>
            <a:endParaRPr lang="en-US" sz="5400" dirty="0"/>
          </a:p>
          <a:p>
            <a:pPr marL="0" indent="0" algn="ctr">
              <a:buNone/>
            </a:pPr>
            <a:r>
              <a:rPr lang="en-US" sz="5400" b="1" kern="0" spc="-108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Shortlisting</a:t>
            </a:r>
            <a:r>
              <a:rPr lang="en-US" sz="5400" b="1" kern="0" spc="-108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</a:t>
            </a:r>
            <a:endParaRPr lang="en-US" sz="5400" dirty="0"/>
          </a:p>
        </p:txBody>
      </p:sp>
      <p:sp>
        <p:nvSpPr>
          <p:cNvPr id="10" name="Text 4"/>
          <p:cNvSpPr txBox="1"/>
          <p:nvPr/>
        </p:nvSpPr>
        <p:spPr>
          <a:xfrm>
            <a:off x="2186330" y="3399739"/>
            <a:ext cx="78208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Metch – Intelligent Recruitment Platform</a:t>
            </a:r>
            <a:endParaRPr lang="en-US" sz="2400" dirty="0"/>
          </a:p>
        </p:txBody>
      </p:sp>
      <p:sp>
        <p:nvSpPr>
          <p:cNvPr id="11" name="Shape 5"/>
          <p:cNvSpPr/>
          <p:nvPr/>
        </p:nvSpPr>
        <p:spPr>
          <a:xfrm>
            <a:off x="1333195" y="4618634"/>
            <a:ext cx="9525305" cy="9144"/>
          </a:xfrm>
          <a:prstGeom prst="rect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6"/>
          <p:cNvSpPr txBox="1"/>
          <p:nvPr/>
        </p:nvSpPr>
        <p:spPr>
          <a:xfrm>
            <a:off x="1561795" y="5009083"/>
            <a:ext cx="27624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Team</a:t>
            </a:r>
            <a:endParaRPr lang="en-US" sz="9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l="-3440" r="-3440"/>
          <a:stretch/>
        </p:blipFill>
        <p:spPr>
          <a:xfrm>
            <a:off x="1333195" y="5037430"/>
            <a:ext cx="152705" cy="114300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33195" y="5256886"/>
            <a:ext cx="29910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 err="1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LaSSMart</a:t>
            </a:r>
            <a:endParaRPr lang="en-US" sz="1300" dirty="0"/>
          </a:p>
        </p:txBody>
      </p:sp>
      <p:sp>
        <p:nvSpPr>
          <p:cNvPr id="15" name="Text 8"/>
          <p:cNvSpPr txBox="1"/>
          <p:nvPr/>
        </p:nvSpPr>
        <p:spPr>
          <a:xfrm>
            <a:off x="4850892" y="5009083"/>
            <a:ext cx="2800807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Submission For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l="-7143" r="-7143"/>
          <a:stretch/>
        </p:blipFill>
        <p:spPr>
          <a:xfrm>
            <a:off x="4660697" y="5037430"/>
            <a:ext cx="114300" cy="114300"/>
          </a:xfrm>
          <a:prstGeom prst="rect">
            <a:avLst/>
          </a:prstGeom>
        </p:spPr>
      </p:pic>
      <p:sp>
        <p:nvSpPr>
          <p:cNvPr id="17" name="Text 9"/>
          <p:cNvSpPr txBox="1"/>
          <p:nvPr/>
        </p:nvSpPr>
        <p:spPr>
          <a:xfrm>
            <a:off x="4660697" y="5256886"/>
            <a:ext cx="299100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Semester 1</a:t>
            </a:r>
            <a:endParaRPr lang="en-US" sz="1300" dirty="0"/>
          </a:p>
        </p:txBody>
      </p:sp>
      <p:sp>
        <p:nvSpPr>
          <p:cNvPr id="18" name="Text 10"/>
          <p:cNvSpPr txBox="1"/>
          <p:nvPr/>
        </p:nvSpPr>
        <p:spPr>
          <a:xfrm>
            <a:off x="8188452" y="5009083"/>
            <a:ext cx="2790749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Institution</a:t>
            </a:r>
            <a:endParaRPr lang="en-US" sz="9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9"/>
          <a:srcRect l="-4000" r="-4000"/>
          <a:stretch/>
        </p:blipFill>
        <p:spPr>
          <a:xfrm>
            <a:off x="7988198" y="5037430"/>
            <a:ext cx="123444" cy="114300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8113014" y="5256886"/>
            <a:ext cx="920802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AIS @ NUS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52805" y="-952805"/>
            <a:ext cx="5715000" cy="5715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476695" y="1619402"/>
            <a:ext cx="6667805" cy="66678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61695" y="201533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4400" y="2168042"/>
            <a:ext cx="228600" cy="228600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1485900" y="2015338"/>
            <a:ext cx="44202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Manual Screening Bottleneck</a:t>
            </a:r>
            <a:endParaRPr lang="en-US" sz="1500" dirty="0"/>
          </a:p>
        </p:txBody>
      </p:sp>
      <p:sp>
        <p:nvSpPr>
          <p:cNvPr id="8" name="Text 3"/>
          <p:cNvSpPr txBox="1"/>
          <p:nvPr/>
        </p:nvSpPr>
        <p:spPr>
          <a:xfrm>
            <a:off x="1485900" y="2377440"/>
            <a:ext cx="43818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processes are inefficient and prone to human error. Workflows rely heavily on manual steps that inevitably introduce unconscious bias.</a:t>
            </a:r>
            <a:endParaRPr lang="en-US" sz="1100" dirty="0"/>
          </a:p>
        </p:txBody>
      </p:sp>
      <p:sp>
        <p:nvSpPr>
          <p:cNvPr id="9" name="Shape 4"/>
          <p:cNvSpPr/>
          <p:nvPr/>
        </p:nvSpPr>
        <p:spPr>
          <a:xfrm>
            <a:off x="6400800" y="201533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rcRect t="-45" b="-45"/>
          <a:stretch/>
        </p:blipFill>
        <p:spPr>
          <a:xfrm>
            <a:off x="6538874" y="2168042"/>
            <a:ext cx="256946" cy="228600"/>
          </a:xfrm>
          <a:prstGeom prst="rect">
            <a:avLst/>
          </a:prstGeom>
        </p:spPr>
      </p:pic>
      <p:sp>
        <p:nvSpPr>
          <p:cNvPr id="11" name="Text 5"/>
          <p:cNvSpPr txBox="1"/>
          <p:nvPr/>
        </p:nvSpPr>
        <p:spPr>
          <a:xfrm>
            <a:off x="7125005" y="2015338"/>
            <a:ext cx="44202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High Volume Overload</a:t>
            </a:r>
            <a:endParaRPr lang="en-US" sz="1500" dirty="0"/>
          </a:p>
        </p:txBody>
      </p:sp>
      <p:sp>
        <p:nvSpPr>
          <p:cNvPr id="12" name="Text 6"/>
          <p:cNvSpPr txBox="1"/>
          <p:nvPr/>
        </p:nvSpPr>
        <p:spPr>
          <a:xfrm>
            <a:off x="7125005" y="2377440"/>
            <a:ext cx="4381805" cy="6958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teams are forced to manually screen hundreds of CVs per role, leading to evaluation fatigue and potential oversight of top talent.</a:t>
            </a:r>
            <a:endParaRPr lang="en-US" sz="1100" dirty="0"/>
          </a:p>
        </p:txBody>
      </p:sp>
      <p:sp>
        <p:nvSpPr>
          <p:cNvPr id="13" name="Shape 7"/>
          <p:cNvSpPr/>
          <p:nvPr/>
        </p:nvSpPr>
        <p:spPr>
          <a:xfrm>
            <a:off x="761695" y="404530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rcRect l="-80" r="-80"/>
          <a:stretch/>
        </p:blipFill>
        <p:spPr>
          <a:xfrm>
            <a:off x="886054" y="4198010"/>
            <a:ext cx="286207" cy="228600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485900" y="4045306"/>
            <a:ext cx="44202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Inconsistent Evaluation</a:t>
            </a:r>
            <a:endParaRPr lang="en-US" sz="1500" dirty="0"/>
          </a:p>
        </p:txBody>
      </p:sp>
      <p:sp>
        <p:nvSpPr>
          <p:cNvPr id="16" name="Text 9"/>
          <p:cNvSpPr txBox="1"/>
          <p:nvPr/>
        </p:nvSpPr>
        <p:spPr>
          <a:xfrm>
            <a:off x="1485900" y="4407408"/>
            <a:ext cx="43818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Assessing candidates against specific Job Description (JD) requirements often lacks a standardized, objective baseline.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6400800" y="4045306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553505" y="4198010"/>
            <a:ext cx="228600" cy="228600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7125005" y="4045306"/>
            <a:ext cx="44202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Human Bias</a:t>
            </a:r>
            <a:endParaRPr lang="en-US" sz="1500" dirty="0"/>
          </a:p>
        </p:txBody>
      </p:sp>
      <p:sp>
        <p:nvSpPr>
          <p:cNvPr id="20" name="Text 12"/>
          <p:cNvSpPr txBox="1"/>
          <p:nvPr/>
        </p:nvSpPr>
        <p:spPr>
          <a:xfrm>
            <a:off x="7125005" y="4407408"/>
            <a:ext cx="4381805" cy="4672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Avoid human bias while ensuring the right candidates are shortlisted </a:t>
            </a:r>
            <a:endParaRPr lang="en-US" sz="1100" dirty="0"/>
          </a:p>
        </p:txBody>
      </p:sp>
      <p:pic>
        <p:nvPicPr>
          <p:cNvPr id="21" name="Image 6" descr="preencoded.png"/>
          <p:cNvPicPr>
            <a:picLocks noChangeAspect="1"/>
          </p:cNvPicPr>
          <p:nvPr/>
        </p:nvPicPr>
        <p:blipFill>
          <a:blip r:embed="rId9"/>
          <a:srcRect l="-6" r="-6"/>
          <a:stretch/>
        </p:blipFill>
        <p:spPr>
          <a:xfrm>
            <a:off x="761695" y="5539435"/>
            <a:ext cx="10668305" cy="708660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1104595" y="5768035"/>
            <a:ext cx="92354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kern="0" spc="66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NEED</a:t>
            </a:r>
            <a:endParaRPr lang="en-US" sz="1300" dirty="0"/>
          </a:p>
        </p:txBody>
      </p:sp>
      <p:sp>
        <p:nvSpPr>
          <p:cNvPr id="23" name="Text 14"/>
          <p:cNvSpPr txBox="1"/>
          <p:nvPr/>
        </p:nvSpPr>
        <p:spPr>
          <a:xfrm>
            <a:off x="2154326" y="5768035"/>
            <a:ext cx="92208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F1F5F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AI-powered system to automate shortlisting, minimize human bias, and improve candidate match quality.</a:t>
            </a:r>
            <a:endParaRPr lang="en-US" sz="1300" dirty="0"/>
          </a:p>
        </p:txBody>
      </p:sp>
      <p:sp>
        <p:nvSpPr>
          <p:cNvPr id="24" name="Shape 15"/>
          <p:cNvSpPr/>
          <p:nvPr/>
        </p:nvSpPr>
        <p:spPr>
          <a:xfrm>
            <a:off x="761695" y="1672438"/>
            <a:ext cx="761695" cy="38405"/>
          </a:xfrm>
          <a:prstGeom prst="roundRect">
            <a:avLst>
              <a:gd name="adj" fmla="val 2380940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16"/>
          <p:cNvSpPr txBox="1"/>
          <p:nvPr/>
        </p:nvSpPr>
        <p:spPr>
          <a:xfrm>
            <a:off x="761695" y="609905"/>
            <a:ext cx="1085850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Problem Statement</a:t>
            </a:r>
            <a:endParaRPr lang="en-US" sz="4200" dirty="0"/>
          </a:p>
        </p:txBody>
      </p:sp>
      <p:sp>
        <p:nvSpPr>
          <p:cNvPr id="26" name="Text 17"/>
          <p:cNvSpPr txBox="1"/>
          <p:nvPr/>
        </p:nvSpPr>
        <p:spPr>
          <a:xfrm>
            <a:off x="761695" y="1272845"/>
            <a:ext cx="107826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challenges of traditional hiring workflows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524805" y="-1429207"/>
            <a:ext cx="4762195" cy="47621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952805" y="2572207"/>
            <a:ext cx="5715000" cy="5715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61695" y="1712671"/>
            <a:ext cx="6077102" cy="1104595"/>
          </a:xfrm>
          <a:prstGeom prst="roundRect">
            <a:avLst>
              <a:gd name="adj" fmla="val 17127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Shape 2"/>
          <p:cNvSpPr/>
          <p:nvPr/>
        </p:nvSpPr>
        <p:spPr>
          <a:xfrm>
            <a:off x="923544" y="1874520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33272" y="2008022"/>
            <a:ext cx="237744" cy="190195"/>
          </a:xfrm>
          <a:prstGeom prst="rect">
            <a:avLst/>
          </a:prstGeom>
        </p:spPr>
      </p:pic>
      <p:sp>
        <p:nvSpPr>
          <p:cNvPr id="8" name="Text 3"/>
          <p:cNvSpPr txBox="1"/>
          <p:nvPr/>
        </p:nvSpPr>
        <p:spPr>
          <a:xfrm>
            <a:off x="1571854" y="1874520"/>
            <a:ext cx="5220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Automate Shortlisting</a:t>
            </a:r>
            <a:endParaRPr lang="en-US" sz="1500" dirty="0"/>
          </a:p>
        </p:txBody>
      </p:sp>
      <p:sp>
        <p:nvSpPr>
          <p:cNvPr id="9" name="Text 4"/>
          <p:cNvSpPr txBox="1"/>
          <p:nvPr/>
        </p:nvSpPr>
        <p:spPr>
          <a:xfrm>
            <a:off x="1571854" y="2213762"/>
            <a:ext cx="5181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 AI-powered assistant capable of automating the initial candidate screening process, reducing manual workload by 80%.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761695" y="3189427"/>
            <a:ext cx="6077102" cy="1104595"/>
          </a:xfrm>
          <a:prstGeom prst="roundRect">
            <a:avLst>
              <a:gd name="adj" fmla="val 17127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6"/>
          <p:cNvSpPr/>
          <p:nvPr/>
        </p:nvSpPr>
        <p:spPr>
          <a:xfrm>
            <a:off x="923544" y="3351276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57046" y="3484778"/>
            <a:ext cx="190195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1571854" y="3351276"/>
            <a:ext cx="5220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Intelligent Matching</a:t>
            </a:r>
            <a:endParaRPr lang="en-US" sz="1500" dirty="0"/>
          </a:p>
        </p:txBody>
      </p:sp>
      <p:sp>
        <p:nvSpPr>
          <p:cNvPr id="14" name="Text 8"/>
          <p:cNvSpPr txBox="1"/>
          <p:nvPr/>
        </p:nvSpPr>
        <p:spPr>
          <a:xfrm>
            <a:off x="1571854" y="3690518"/>
            <a:ext cx="5181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Utilize Large Language Models (LLMs) and RAG technology to deeply analyze CVs and match them semantically to Job Descriptions.</a:t>
            </a:r>
            <a:endParaRPr lang="en-US" sz="1100" dirty="0"/>
          </a:p>
        </p:txBody>
      </p:sp>
      <p:sp>
        <p:nvSpPr>
          <p:cNvPr id="15" name="Shape 9"/>
          <p:cNvSpPr/>
          <p:nvPr/>
        </p:nvSpPr>
        <p:spPr>
          <a:xfrm>
            <a:off x="761695" y="4666183"/>
            <a:ext cx="6077102" cy="1104595"/>
          </a:xfrm>
          <a:prstGeom prst="roundRect">
            <a:avLst>
              <a:gd name="adj" fmla="val 17127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0"/>
          <p:cNvSpPr/>
          <p:nvPr/>
        </p:nvSpPr>
        <p:spPr>
          <a:xfrm>
            <a:off x="923544" y="4828032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33272" y="4961534"/>
            <a:ext cx="237744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571854" y="4828032"/>
            <a:ext cx="5220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Scalability</a:t>
            </a:r>
            <a:endParaRPr lang="en-US" sz="1500" dirty="0"/>
          </a:p>
        </p:txBody>
      </p:sp>
      <p:sp>
        <p:nvSpPr>
          <p:cNvPr id="19" name="Text 12"/>
          <p:cNvSpPr txBox="1"/>
          <p:nvPr/>
        </p:nvSpPr>
        <p:spPr>
          <a:xfrm>
            <a:off x="1571854" y="5167274"/>
            <a:ext cx="5181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 a robust, enterprise-ready platform hosted entirely on Microsoft Azure infrastructure for security and performance.</a:t>
            </a:r>
            <a:endParaRPr lang="en-US" sz="1100" dirty="0"/>
          </a:p>
        </p:txBody>
      </p:sp>
      <p:sp>
        <p:nvSpPr>
          <p:cNvPr id="20" name="Shape 13"/>
          <p:cNvSpPr/>
          <p:nvPr/>
        </p:nvSpPr>
        <p:spPr>
          <a:xfrm>
            <a:off x="761695" y="6143854"/>
            <a:ext cx="6077102" cy="1104595"/>
          </a:xfrm>
          <a:prstGeom prst="roundRect">
            <a:avLst>
              <a:gd name="adj" fmla="val 17127"/>
            </a:avLst>
          </a:prstGeom>
          <a:noFill/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4"/>
          <p:cNvSpPr/>
          <p:nvPr/>
        </p:nvSpPr>
        <p:spPr>
          <a:xfrm>
            <a:off x="923544" y="6189158"/>
            <a:ext cx="457200" cy="457200"/>
          </a:xfrm>
          <a:prstGeom prst="roundRect">
            <a:avLst>
              <a:gd name="adj" fmla="val 83333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94A3B8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033272" y="6322661"/>
            <a:ext cx="237744" cy="1901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571854" y="6189158"/>
            <a:ext cx="522031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Conversational Interface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571854" y="6527486"/>
            <a:ext cx="51819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 HR teams with a natural language interface to query candidate profiles dynamically ("Who has Python experience?").</a:t>
            </a:r>
            <a:endParaRPr lang="en-US" sz="1100" dirty="0"/>
          </a:p>
        </p:txBody>
      </p:sp>
      <p:sp>
        <p:nvSpPr>
          <p:cNvPr id="25" name="Shape 17"/>
          <p:cNvSpPr/>
          <p:nvPr/>
        </p:nvSpPr>
        <p:spPr>
          <a:xfrm>
            <a:off x="761695" y="1408176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Text 18"/>
          <p:cNvSpPr txBox="1"/>
          <p:nvPr/>
        </p:nvSpPr>
        <p:spPr>
          <a:xfrm>
            <a:off x="761695" y="533095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Objective</a:t>
            </a:r>
            <a:endParaRPr lang="en-US" sz="3600" dirty="0"/>
          </a:p>
        </p:txBody>
      </p:sp>
      <p:sp>
        <p:nvSpPr>
          <p:cNvPr id="27" name="Text 19"/>
          <p:cNvSpPr txBox="1"/>
          <p:nvPr/>
        </p:nvSpPr>
        <p:spPr>
          <a:xfrm>
            <a:off x="761695" y="1074420"/>
            <a:ext cx="107826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Defining the core goals for our intelligent recruitment platform</a:t>
            </a:r>
            <a:endParaRPr lang="en-US" sz="1300" dirty="0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l="-4" r="-4"/>
          <a:stretch/>
        </p:blipFill>
        <p:spPr>
          <a:xfrm>
            <a:off x="7606715" y="878952"/>
            <a:ext cx="3832250" cy="5528462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7921268" y="1193506"/>
            <a:ext cx="33247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10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Targeted Precision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7921268" y="1469655"/>
            <a:ext cx="33247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</a:t>
            </a:r>
            <a:r>
              <a:rPr lang="en-US" sz="2400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OUTCOME</a:t>
            </a:r>
            <a:endParaRPr lang="en-US" sz="2400" dirty="0"/>
          </a:p>
        </p:txBody>
      </p:sp>
      <p:sp>
        <p:nvSpPr>
          <p:cNvPr id="31" name="Shape 22"/>
          <p:cNvSpPr/>
          <p:nvPr/>
        </p:nvSpPr>
        <p:spPr>
          <a:xfrm>
            <a:off x="7921268" y="2032925"/>
            <a:ext cx="3209544" cy="2695651"/>
          </a:xfrm>
          <a:prstGeom prst="roundRect">
            <a:avLst>
              <a:gd name="adj" fmla="val 287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Text 23"/>
          <p:cNvSpPr txBox="1"/>
          <p:nvPr/>
        </p:nvSpPr>
        <p:spPr>
          <a:xfrm>
            <a:off x="8121522" y="2233179"/>
            <a:ext cx="12765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RANKING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10333455" y="2233179"/>
            <a:ext cx="676656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 MATCH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8121522" y="2480981"/>
            <a:ext cx="2809951" cy="609905"/>
          </a:xfrm>
          <a:prstGeom prst="roundRect">
            <a:avLst>
              <a:gd name="adj" fmla="val 18741"/>
            </a:avLst>
          </a:prstGeom>
          <a:solidFill>
            <a:srgbClr val="38BDF8">
              <a:alpha val="1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5" name="Shape 26"/>
          <p:cNvSpPr/>
          <p:nvPr/>
        </p:nvSpPr>
        <p:spPr>
          <a:xfrm>
            <a:off x="8121522" y="2480981"/>
            <a:ext cx="28346" cy="609905"/>
          </a:xfrm>
          <a:prstGeom prst="roundRect">
            <a:avLst>
              <a:gd name="adj" fmla="val 403231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27"/>
          <p:cNvSpPr txBox="1"/>
          <p:nvPr/>
        </p:nvSpPr>
        <p:spPr>
          <a:xfrm>
            <a:off x="8264168" y="2595281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#042</a:t>
            </a:r>
            <a:endParaRPr lang="en-US" sz="1000" dirty="0"/>
          </a:p>
        </p:txBody>
      </p:sp>
      <p:sp>
        <p:nvSpPr>
          <p:cNvPr id="37" name="Text 28"/>
          <p:cNvSpPr txBox="1"/>
          <p:nvPr/>
        </p:nvSpPr>
        <p:spPr>
          <a:xfrm>
            <a:off x="8264168" y="2801021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Senior React Dev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0434039" y="2641001"/>
            <a:ext cx="457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98%</a:t>
            </a:r>
            <a:endParaRPr lang="en-US" sz="1500" dirty="0"/>
          </a:p>
        </p:txBody>
      </p:sp>
      <p:sp>
        <p:nvSpPr>
          <p:cNvPr id="39" name="Shape 30"/>
          <p:cNvSpPr/>
          <p:nvPr/>
        </p:nvSpPr>
        <p:spPr>
          <a:xfrm>
            <a:off x="8121522" y="3201528"/>
            <a:ext cx="2809951" cy="609905"/>
          </a:xfrm>
          <a:prstGeom prst="roundRect">
            <a:avLst>
              <a:gd name="adj" fmla="val 18741"/>
            </a:avLst>
          </a:prstGeom>
          <a:solidFill>
            <a:srgbClr val="A78BFA">
              <a:alpha val="6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0" name="Shape 31"/>
          <p:cNvSpPr/>
          <p:nvPr/>
        </p:nvSpPr>
        <p:spPr>
          <a:xfrm>
            <a:off x="8121522" y="3201528"/>
            <a:ext cx="28346" cy="609905"/>
          </a:xfrm>
          <a:prstGeom prst="roundRect">
            <a:avLst>
              <a:gd name="adj" fmla="val 403231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2"/>
          <p:cNvSpPr txBox="1"/>
          <p:nvPr/>
        </p:nvSpPr>
        <p:spPr>
          <a:xfrm>
            <a:off x="8264168" y="3315828"/>
            <a:ext cx="12326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#019</a:t>
            </a:r>
            <a:endParaRPr lang="en-US" sz="1000" dirty="0"/>
          </a:p>
        </p:txBody>
      </p:sp>
      <p:sp>
        <p:nvSpPr>
          <p:cNvPr id="42" name="Text 33"/>
          <p:cNvSpPr txBox="1"/>
          <p:nvPr/>
        </p:nvSpPr>
        <p:spPr>
          <a:xfrm>
            <a:off x="8264168" y="3521568"/>
            <a:ext cx="120792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 Engineer</a:t>
            </a:r>
            <a:endParaRPr lang="en-US" sz="900" dirty="0"/>
          </a:p>
        </p:txBody>
      </p:sp>
      <p:sp>
        <p:nvSpPr>
          <p:cNvPr id="43" name="Text 34"/>
          <p:cNvSpPr txBox="1"/>
          <p:nvPr/>
        </p:nvSpPr>
        <p:spPr>
          <a:xfrm>
            <a:off x="10436783" y="3361548"/>
            <a:ext cx="45720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A78BFA">
                    <a:alpha val="6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85%</a:t>
            </a:r>
            <a:endParaRPr lang="en-US" sz="1500" dirty="0"/>
          </a:p>
        </p:txBody>
      </p:sp>
      <p:sp>
        <p:nvSpPr>
          <p:cNvPr id="44" name="Shape 35"/>
          <p:cNvSpPr/>
          <p:nvPr/>
        </p:nvSpPr>
        <p:spPr>
          <a:xfrm>
            <a:off x="8121522" y="3921161"/>
            <a:ext cx="2809951" cy="609905"/>
          </a:xfrm>
          <a:prstGeom prst="roundRect">
            <a:avLst>
              <a:gd name="adj" fmla="val 18741"/>
            </a:avLst>
          </a:prstGeom>
          <a:solidFill>
            <a:srgbClr val="CBD5E1">
              <a:alpha val="4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45" name="Shape 36"/>
          <p:cNvSpPr/>
          <p:nvPr/>
        </p:nvSpPr>
        <p:spPr>
          <a:xfrm>
            <a:off x="8121522" y="3921161"/>
            <a:ext cx="28346" cy="609905"/>
          </a:xfrm>
          <a:prstGeom prst="roundRect">
            <a:avLst>
              <a:gd name="adj" fmla="val 403231"/>
            </a:avLst>
          </a:prstGeom>
          <a:solidFill>
            <a:srgbClr val="CBD5E1"/>
          </a:solidFill>
          <a:ln w="12700">
            <a:solidFill>
              <a:srgbClr val="CBD5E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37"/>
          <p:cNvSpPr txBox="1"/>
          <p:nvPr/>
        </p:nvSpPr>
        <p:spPr>
          <a:xfrm>
            <a:off x="8264168" y="4035461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#008</a:t>
            </a:r>
            <a:endParaRPr lang="en-US" sz="1000" dirty="0"/>
          </a:p>
        </p:txBody>
      </p:sp>
      <p:sp>
        <p:nvSpPr>
          <p:cNvPr id="47" name="Text 38"/>
          <p:cNvSpPr txBox="1"/>
          <p:nvPr/>
        </p:nvSpPr>
        <p:spPr>
          <a:xfrm>
            <a:off x="8264168" y="4241201"/>
            <a:ext cx="1153058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>
                    <a:alpha val="4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 Developer</a:t>
            </a:r>
            <a:endParaRPr lang="en-US" sz="900" dirty="0"/>
          </a:p>
        </p:txBody>
      </p:sp>
      <p:sp>
        <p:nvSpPr>
          <p:cNvPr id="48" name="Text 39"/>
          <p:cNvSpPr txBox="1"/>
          <p:nvPr/>
        </p:nvSpPr>
        <p:spPr>
          <a:xfrm>
            <a:off x="10447755" y="4081181"/>
            <a:ext cx="4480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CBD5E1">
                    <a:alpha val="4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72%</a:t>
            </a:r>
            <a:endParaRPr lang="en-US" sz="1500" dirty="0"/>
          </a:p>
        </p:txBody>
      </p:sp>
      <p:sp>
        <p:nvSpPr>
          <p:cNvPr id="49" name="Shape 40"/>
          <p:cNvSpPr/>
          <p:nvPr/>
        </p:nvSpPr>
        <p:spPr>
          <a:xfrm>
            <a:off x="7921268" y="4956262"/>
            <a:ext cx="3209544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1"/>
          <p:cNvSpPr txBox="1"/>
          <p:nvPr/>
        </p:nvSpPr>
        <p:spPr>
          <a:xfrm>
            <a:off x="7921268" y="5118111"/>
            <a:ext cx="3286354" cy="9811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generate structured candidate rankings rigorously aligned to specific JD criteria, providing defensible and objective selection metrics.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alphaModFix amt="30000"/>
          </a:blip>
          <a:srcRect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0" y="710757"/>
            <a:ext cx="3810305" cy="381030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992270" y="6547372"/>
            <a:ext cx="75895" cy="75895"/>
          </a:xfrm>
          <a:prstGeom prst="ellipse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2"/>
          <p:cNvSpPr txBox="1"/>
          <p:nvPr/>
        </p:nvSpPr>
        <p:spPr>
          <a:xfrm>
            <a:off x="4144061" y="6494337"/>
            <a:ext cx="6062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Frontend</a:t>
            </a:r>
            <a:endParaRPr lang="en-US" sz="900" dirty="0"/>
          </a:p>
        </p:txBody>
      </p:sp>
      <p:sp>
        <p:nvSpPr>
          <p:cNvPr id="7" name="Shape 3"/>
          <p:cNvSpPr/>
          <p:nvPr/>
        </p:nvSpPr>
        <p:spPr>
          <a:xfrm>
            <a:off x="4962449" y="6547372"/>
            <a:ext cx="75895" cy="75895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4"/>
          <p:cNvSpPr txBox="1"/>
          <p:nvPr/>
        </p:nvSpPr>
        <p:spPr>
          <a:xfrm>
            <a:off x="5115154" y="6494337"/>
            <a:ext cx="83484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Backend API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6148426" y="6547372"/>
            <a:ext cx="75895" cy="75895"/>
          </a:xfrm>
          <a:prstGeom prst="ellipse">
            <a:avLst/>
          </a:prstGeom>
          <a:solidFill>
            <a:srgbClr val="F472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6"/>
          <p:cNvSpPr txBox="1"/>
          <p:nvPr/>
        </p:nvSpPr>
        <p:spPr>
          <a:xfrm>
            <a:off x="6301130" y="6494337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Logic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7072884" y="6547372"/>
            <a:ext cx="75895" cy="75895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Text 8"/>
          <p:cNvSpPr txBox="1"/>
          <p:nvPr/>
        </p:nvSpPr>
        <p:spPr>
          <a:xfrm>
            <a:off x="7225589" y="6494337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Persistence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609905" y="1210019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0"/>
          <p:cNvSpPr txBox="1"/>
          <p:nvPr/>
        </p:nvSpPr>
        <p:spPr>
          <a:xfrm>
            <a:off x="609905" y="215152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Architecture Overview</a:t>
            </a:r>
            <a:endParaRPr lang="en-US" sz="3300" dirty="0"/>
          </a:p>
        </p:txBody>
      </p:sp>
      <p:sp>
        <p:nvSpPr>
          <p:cNvPr id="15" name="Text 11"/>
          <p:cNvSpPr txBox="1"/>
          <p:nvPr/>
        </p:nvSpPr>
        <p:spPr>
          <a:xfrm>
            <a:off x="609905" y="881750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Multi-tier cloud infrastructure and intelligent data flow on Microsoft Azure</a:t>
            </a:r>
            <a:endParaRPr lang="en-US" sz="130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rcRect l="-1648" r="-1648"/>
          <a:stretch/>
        </p:blipFill>
        <p:spPr>
          <a:xfrm>
            <a:off x="4219956" y="3870923"/>
            <a:ext cx="171907" cy="1901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695444" y="1590410"/>
            <a:ext cx="6057900" cy="4753051"/>
          </a:xfrm>
          <a:prstGeom prst="roundRect">
            <a:avLst>
              <a:gd name="adj" fmla="val 1542"/>
            </a:avLst>
          </a:prstGeom>
          <a:solidFill>
            <a:srgbClr val="38BDF8">
              <a:alpha val="2000"/>
            </a:srgbClr>
          </a:solidFill>
          <a:ln w="254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8" name="Text 13"/>
          <p:cNvSpPr txBox="1"/>
          <p:nvPr/>
        </p:nvSpPr>
        <p:spPr>
          <a:xfrm>
            <a:off x="8875166" y="1476110"/>
            <a:ext cx="1638605" cy="200254"/>
          </a:xfrm>
          <a:prstGeom prst="rect">
            <a:avLst/>
          </a:prstGeom>
          <a:solidFill>
            <a:srgbClr val="0F172A"/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52400" tIns="0" rIns="15240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Microsoft Azure Cloud</a:t>
            </a:r>
            <a:endParaRPr lang="en-US" sz="1000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rcRect t="-1100" b="-1100"/>
          <a:stretch/>
        </p:blipFill>
        <p:spPr>
          <a:xfrm>
            <a:off x="8684057" y="1507199"/>
            <a:ext cx="114300" cy="133502"/>
          </a:xfrm>
          <a:prstGeom prst="rect">
            <a:avLst/>
          </a:prstGeom>
        </p:spPr>
      </p:pic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rcRect l="-2" r="-2"/>
          <a:stretch/>
        </p:blipFill>
        <p:spPr>
          <a:xfrm>
            <a:off x="1438351" y="2856854"/>
            <a:ext cx="2476195" cy="2219249"/>
          </a:xfrm>
          <a:prstGeom prst="rect">
            <a:avLst/>
          </a:prstGeom>
        </p:spPr>
      </p:pic>
      <p:sp>
        <p:nvSpPr>
          <p:cNvPr id="21" name="Shape 14"/>
          <p:cNvSpPr/>
          <p:nvPr/>
        </p:nvSpPr>
        <p:spPr>
          <a:xfrm>
            <a:off x="1638605" y="3361602"/>
            <a:ext cx="2076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Text 15"/>
          <p:cNvSpPr txBox="1"/>
          <p:nvPr/>
        </p:nvSpPr>
        <p:spPr>
          <a:xfrm>
            <a:off x="1600200" y="3075395"/>
            <a:ext cx="21534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4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 Layer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1638605" y="3519794"/>
            <a:ext cx="2076602" cy="543154"/>
          </a:xfrm>
          <a:prstGeom prst="roundRect">
            <a:avLst>
              <a:gd name="adj" fmla="val 3544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1790395" y="3692615"/>
            <a:ext cx="171907" cy="171907"/>
          </a:xfrm>
          <a:prstGeom prst="rect">
            <a:avLst/>
          </a:prstGeom>
        </p:spPr>
      </p:pic>
      <p:sp>
        <p:nvSpPr>
          <p:cNvPr id="25" name="Text 17"/>
          <p:cNvSpPr txBox="1"/>
          <p:nvPr/>
        </p:nvSpPr>
        <p:spPr>
          <a:xfrm>
            <a:off x="2066544" y="3605747"/>
            <a:ext cx="8001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 SPA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2036369" y="3811487"/>
            <a:ext cx="862279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Interface</a:t>
            </a:r>
            <a:endParaRPr lang="en-US" sz="800" dirty="0"/>
          </a:p>
        </p:txBody>
      </p:sp>
      <p:sp>
        <p:nvSpPr>
          <p:cNvPr id="27" name="Shape 19"/>
          <p:cNvSpPr/>
          <p:nvPr/>
        </p:nvSpPr>
        <p:spPr>
          <a:xfrm>
            <a:off x="1638605" y="4133356"/>
            <a:ext cx="2076602" cy="752551"/>
          </a:xfrm>
          <a:prstGeom prst="roundRect">
            <a:avLst>
              <a:gd name="adj" fmla="val 18457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rcRect t="-1310" b="-1310"/>
          <a:stretch/>
        </p:blipFill>
        <p:spPr>
          <a:xfrm>
            <a:off x="1770278" y="4409505"/>
            <a:ext cx="209398" cy="171907"/>
          </a:xfrm>
          <a:prstGeom prst="rect">
            <a:avLst/>
          </a:prstGeom>
        </p:spPr>
      </p:pic>
      <p:sp>
        <p:nvSpPr>
          <p:cNvPr id="29" name="Text 20"/>
          <p:cNvSpPr txBox="1"/>
          <p:nvPr/>
        </p:nvSpPr>
        <p:spPr>
          <a:xfrm>
            <a:off x="2072030" y="4218395"/>
            <a:ext cx="155539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Static Web Apps</a:t>
            </a:r>
            <a:endParaRPr lang="en-US" sz="1000" dirty="0"/>
          </a:p>
        </p:txBody>
      </p:sp>
      <p:sp>
        <p:nvSpPr>
          <p:cNvPr id="30" name="Text 21"/>
          <p:cNvSpPr txBox="1"/>
          <p:nvPr/>
        </p:nvSpPr>
        <p:spPr>
          <a:xfrm>
            <a:off x="2063801" y="4630790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Hosting &amp; CI/CD</a:t>
            </a:r>
            <a:endParaRPr lang="en-US" sz="80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10"/>
          <a:srcRect l="-1" r="-1"/>
          <a:stretch/>
        </p:blipFill>
        <p:spPr>
          <a:xfrm>
            <a:off x="5020056" y="1838212"/>
            <a:ext cx="2476195" cy="2013509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5219395" y="2343875"/>
            <a:ext cx="2076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Text 23"/>
          <p:cNvSpPr txBox="1"/>
          <p:nvPr/>
        </p:nvSpPr>
        <p:spPr>
          <a:xfrm>
            <a:off x="5181905" y="2057668"/>
            <a:ext cx="21534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4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 API Layer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5219395" y="2501152"/>
            <a:ext cx="2076602" cy="543154"/>
          </a:xfrm>
          <a:prstGeom prst="roundRect">
            <a:avLst>
              <a:gd name="adj" fmla="val 3544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11"/>
          <a:srcRect t="-2725" b="-2725"/>
          <a:stretch/>
        </p:blipFill>
        <p:spPr>
          <a:xfrm>
            <a:off x="5386730" y="2674888"/>
            <a:ext cx="142646" cy="171907"/>
          </a:xfrm>
          <a:prstGeom prst="rect">
            <a:avLst/>
          </a:prstGeom>
        </p:spPr>
      </p:pic>
      <p:sp>
        <p:nvSpPr>
          <p:cNvPr id="36" name="Text 25"/>
          <p:cNvSpPr txBox="1"/>
          <p:nvPr/>
        </p:nvSpPr>
        <p:spPr>
          <a:xfrm>
            <a:off x="5648249" y="2587106"/>
            <a:ext cx="8860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000" dirty="0"/>
          </a:p>
        </p:txBody>
      </p:sp>
      <p:sp>
        <p:nvSpPr>
          <p:cNvPr id="37" name="Text 26"/>
          <p:cNvSpPr txBox="1"/>
          <p:nvPr/>
        </p:nvSpPr>
        <p:spPr>
          <a:xfrm>
            <a:off x="5609844" y="2792846"/>
            <a:ext cx="96377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RESTful Service</a:t>
            </a:r>
            <a:endParaRPr lang="en-US" sz="800" dirty="0"/>
          </a:p>
        </p:txBody>
      </p:sp>
      <p:sp>
        <p:nvSpPr>
          <p:cNvPr id="38" name="Shape 27"/>
          <p:cNvSpPr/>
          <p:nvPr/>
        </p:nvSpPr>
        <p:spPr>
          <a:xfrm>
            <a:off x="5219395" y="3114714"/>
            <a:ext cx="2076602" cy="543154"/>
          </a:xfrm>
          <a:prstGeom prst="roundRect">
            <a:avLst>
              <a:gd name="adj" fmla="val 3544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5372100" y="3288450"/>
            <a:ext cx="171907" cy="171907"/>
          </a:xfrm>
          <a:prstGeom prst="rect">
            <a:avLst/>
          </a:prstGeom>
        </p:spPr>
      </p:pic>
      <p:sp>
        <p:nvSpPr>
          <p:cNvPr id="40" name="Text 28"/>
          <p:cNvSpPr txBox="1"/>
          <p:nvPr/>
        </p:nvSpPr>
        <p:spPr>
          <a:xfrm>
            <a:off x="5576926" y="3200668"/>
            <a:ext cx="1448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App Service</a:t>
            </a:r>
            <a:endParaRPr lang="en-US" sz="1000" dirty="0"/>
          </a:p>
        </p:txBody>
      </p:sp>
      <p:sp>
        <p:nvSpPr>
          <p:cNvPr id="41" name="Text 29"/>
          <p:cNvSpPr txBox="1"/>
          <p:nvPr/>
        </p:nvSpPr>
        <p:spPr>
          <a:xfrm>
            <a:off x="5648249" y="3406408"/>
            <a:ext cx="1305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Managed Compute</a:t>
            </a:r>
            <a:endParaRPr lang="en-US" sz="800" dirty="0"/>
          </a:p>
        </p:txBody>
      </p:sp>
      <p:pic>
        <p:nvPicPr>
          <p:cNvPr id="42" name="Image 10" descr="preencoded.png"/>
          <p:cNvPicPr>
            <a:picLocks noChangeAspect="1"/>
          </p:cNvPicPr>
          <p:nvPr/>
        </p:nvPicPr>
        <p:blipFill>
          <a:blip r:embed="rId13"/>
          <a:srcRect l="-1" r="-1"/>
          <a:stretch/>
        </p:blipFill>
        <p:spPr>
          <a:xfrm>
            <a:off x="7953451" y="1838212"/>
            <a:ext cx="2476195" cy="2013509"/>
          </a:xfrm>
          <a:prstGeom prst="rect">
            <a:avLst/>
          </a:prstGeom>
        </p:spPr>
      </p:pic>
      <p:sp>
        <p:nvSpPr>
          <p:cNvPr id="43" name="Shape 30"/>
          <p:cNvSpPr/>
          <p:nvPr/>
        </p:nvSpPr>
        <p:spPr>
          <a:xfrm>
            <a:off x="8153705" y="2343875"/>
            <a:ext cx="2076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31"/>
          <p:cNvSpPr txBox="1"/>
          <p:nvPr/>
        </p:nvSpPr>
        <p:spPr>
          <a:xfrm>
            <a:off x="8115300" y="2057668"/>
            <a:ext cx="21534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4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&amp; Logic Layer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8153705" y="2501152"/>
            <a:ext cx="2076602" cy="543154"/>
          </a:xfrm>
          <a:prstGeom prst="roundRect">
            <a:avLst>
              <a:gd name="adj" fmla="val 3544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4"/>
          <a:srcRect t="-2222" b="-2222"/>
          <a:stretch/>
        </p:blipFill>
        <p:spPr>
          <a:xfrm>
            <a:off x="8329270" y="2674888"/>
            <a:ext cx="123444" cy="171907"/>
          </a:xfrm>
          <a:prstGeom prst="rect">
            <a:avLst/>
          </a:prstGeom>
        </p:spPr>
      </p:pic>
      <p:sp>
        <p:nvSpPr>
          <p:cNvPr id="47" name="Text 33"/>
          <p:cNvSpPr txBox="1"/>
          <p:nvPr/>
        </p:nvSpPr>
        <p:spPr>
          <a:xfrm>
            <a:off x="8581644" y="2587106"/>
            <a:ext cx="7242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PyMuPDF</a:t>
            </a:r>
            <a:endParaRPr lang="en-US" sz="1000" dirty="0"/>
          </a:p>
        </p:txBody>
      </p:sp>
      <p:sp>
        <p:nvSpPr>
          <p:cNvPr id="48" name="Text 34"/>
          <p:cNvSpPr txBox="1"/>
          <p:nvPr/>
        </p:nvSpPr>
        <p:spPr>
          <a:xfrm>
            <a:off x="8581644" y="2792846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 Parser</a:t>
            </a:r>
            <a:endParaRPr lang="en-US" sz="800" dirty="0"/>
          </a:p>
        </p:txBody>
      </p:sp>
      <p:sp>
        <p:nvSpPr>
          <p:cNvPr id="49" name="Shape 35"/>
          <p:cNvSpPr/>
          <p:nvPr/>
        </p:nvSpPr>
        <p:spPr>
          <a:xfrm>
            <a:off x="8153705" y="3114714"/>
            <a:ext cx="2076602" cy="543154"/>
          </a:xfrm>
          <a:prstGeom prst="roundRect">
            <a:avLst>
              <a:gd name="adj" fmla="val 3544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 r:embed="rId15"/>
          <a:srcRect/>
          <a:stretch/>
        </p:blipFill>
        <p:spPr>
          <a:xfrm>
            <a:off x="8305495" y="3288450"/>
            <a:ext cx="171907" cy="171907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501177" y="3200668"/>
            <a:ext cx="16194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+ Llama 4</a:t>
            </a:r>
            <a:endParaRPr lang="en-US" sz="1000" dirty="0"/>
          </a:p>
        </p:txBody>
      </p:sp>
      <p:sp>
        <p:nvSpPr>
          <p:cNvPr id="52" name="Text 37"/>
          <p:cNvSpPr txBox="1"/>
          <p:nvPr/>
        </p:nvSpPr>
        <p:spPr>
          <a:xfrm>
            <a:off x="8581644" y="3406408"/>
            <a:ext cx="14575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Orchestration &amp; LLM</a:t>
            </a:r>
            <a:endParaRPr lang="en-US" sz="800" dirty="0"/>
          </a:p>
        </p:txBody>
      </p:sp>
      <p:pic>
        <p:nvPicPr>
          <p:cNvPr id="53" name="Image 13" descr="preencoded.png"/>
          <p:cNvPicPr>
            <a:picLocks noChangeAspect="1"/>
          </p:cNvPicPr>
          <p:nvPr/>
        </p:nvPicPr>
        <p:blipFill>
          <a:blip r:embed="rId16"/>
          <a:srcRect l="-1" r="-1"/>
          <a:stretch/>
        </p:blipFill>
        <p:spPr>
          <a:xfrm>
            <a:off x="7953451" y="4080321"/>
            <a:ext cx="2476195" cy="2013509"/>
          </a:xfrm>
          <a:prstGeom prst="rect">
            <a:avLst/>
          </a:prstGeom>
        </p:spPr>
      </p:pic>
      <p:sp>
        <p:nvSpPr>
          <p:cNvPr id="54" name="Shape 38"/>
          <p:cNvSpPr/>
          <p:nvPr/>
        </p:nvSpPr>
        <p:spPr>
          <a:xfrm>
            <a:off x="8153705" y="4585984"/>
            <a:ext cx="2076602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Text 39"/>
          <p:cNvSpPr txBox="1"/>
          <p:nvPr/>
        </p:nvSpPr>
        <p:spPr>
          <a:xfrm>
            <a:off x="8115300" y="4299777"/>
            <a:ext cx="2153412" cy="2103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kern="0" spc="54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56" name="Shape 40"/>
          <p:cNvSpPr/>
          <p:nvPr/>
        </p:nvSpPr>
        <p:spPr>
          <a:xfrm>
            <a:off x="8153705" y="4743261"/>
            <a:ext cx="2076602" cy="543154"/>
          </a:xfrm>
          <a:prstGeom prst="roundRect">
            <a:avLst>
              <a:gd name="adj" fmla="val 3544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7" name="Image 14" descr="preencoded.png"/>
          <p:cNvPicPr>
            <a:picLocks noChangeAspect="1"/>
          </p:cNvPicPr>
          <p:nvPr/>
        </p:nvPicPr>
        <p:blipFill>
          <a:blip r:embed="rId17"/>
          <a:srcRect t="-2725" b="-2725"/>
          <a:stretch/>
        </p:blipFill>
        <p:spPr>
          <a:xfrm>
            <a:off x="8320126" y="4916997"/>
            <a:ext cx="142646" cy="171907"/>
          </a:xfrm>
          <a:prstGeom prst="rect">
            <a:avLst/>
          </a:prstGeom>
        </p:spPr>
      </p:pic>
      <p:sp>
        <p:nvSpPr>
          <p:cNvPr id="58" name="Text 41"/>
          <p:cNvSpPr txBox="1"/>
          <p:nvPr/>
        </p:nvSpPr>
        <p:spPr>
          <a:xfrm>
            <a:off x="8581644" y="4829214"/>
            <a:ext cx="106710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</a:t>
            </a:r>
            <a:endParaRPr lang="en-US" sz="1000" dirty="0"/>
          </a:p>
        </p:txBody>
      </p:sp>
      <p:sp>
        <p:nvSpPr>
          <p:cNvPr id="59" name="Text 42"/>
          <p:cNvSpPr txBox="1"/>
          <p:nvPr/>
        </p:nvSpPr>
        <p:spPr>
          <a:xfrm>
            <a:off x="8551469" y="5034954"/>
            <a:ext cx="112837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Vector Embeddings</a:t>
            </a:r>
            <a:endParaRPr lang="en-US" sz="800" dirty="0"/>
          </a:p>
        </p:txBody>
      </p:sp>
      <p:sp>
        <p:nvSpPr>
          <p:cNvPr id="60" name="Shape 43"/>
          <p:cNvSpPr/>
          <p:nvPr/>
        </p:nvSpPr>
        <p:spPr>
          <a:xfrm>
            <a:off x="8153705" y="5356823"/>
            <a:ext cx="2076602" cy="543154"/>
          </a:xfrm>
          <a:prstGeom prst="roundRect">
            <a:avLst>
              <a:gd name="adj" fmla="val 35442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1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305495" y="5530559"/>
            <a:ext cx="171907" cy="171907"/>
          </a:xfrm>
          <a:prstGeom prst="rect">
            <a:avLst/>
          </a:prstGeom>
        </p:spPr>
      </p:pic>
      <p:sp>
        <p:nvSpPr>
          <p:cNvPr id="62" name="Text 44"/>
          <p:cNvSpPr txBox="1"/>
          <p:nvPr/>
        </p:nvSpPr>
        <p:spPr>
          <a:xfrm>
            <a:off x="8499348" y="5442777"/>
            <a:ext cx="150784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Blob Storage</a:t>
            </a:r>
            <a:endParaRPr lang="en-US" sz="1000" dirty="0"/>
          </a:p>
        </p:txBody>
      </p:sp>
      <p:sp>
        <p:nvSpPr>
          <p:cNvPr id="63" name="Text 45"/>
          <p:cNvSpPr txBox="1"/>
          <p:nvPr/>
        </p:nvSpPr>
        <p:spPr>
          <a:xfrm>
            <a:off x="8581644" y="5648517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File Store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657600" y="-952805"/>
            <a:ext cx="4762195" cy="47621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452067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F472B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2"/>
          <p:cNvSpPr txBox="1"/>
          <p:nvPr/>
        </p:nvSpPr>
        <p:spPr>
          <a:xfrm>
            <a:off x="609905" y="457200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Technology Stack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1123798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suite of modern tools and frameworks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9905" y="1756562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609905" y="1756562"/>
            <a:ext cx="2553005" cy="28346"/>
          </a:xfrm>
          <a:prstGeom prst="rect">
            <a:avLst/>
          </a:prstGeom>
          <a:solidFill>
            <a:srgbClr val="61D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809244" y="195681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05256" y="2051914"/>
            <a:ext cx="190195" cy="19019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04849" y="2020824"/>
            <a:ext cx="86136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Frontend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09244" y="2489911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Shape 9"/>
          <p:cNvSpPr/>
          <p:nvPr/>
        </p:nvSpPr>
        <p:spPr>
          <a:xfrm>
            <a:off x="900684" y="2625242"/>
            <a:ext cx="57607" cy="57607"/>
          </a:xfrm>
          <a:prstGeom prst="ellipse">
            <a:avLst/>
          </a:prstGeom>
          <a:solidFill>
            <a:srgbClr val="61DAF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4" name="Text 10"/>
          <p:cNvSpPr txBox="1"/>
          <p:nvPr/>
        </p:nvSpPr>
        <p:spPr>
          <a:xfrm>
            <a:off x="1034186" y="2551176"/>
            <a:ext cx="4480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React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809244" y="2893162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2"/>
          <p:cNvSpPr/>
          <p:nvPr/>
        </p:nvSpPr>
        <p:spPr>
          <a:xfrm>
            <a:off x="900684" y="3028493"/>
            <a:ext cx="57607" cy="57607"/>
          </a:xfrm>
          <a:prstGeom prst="ellipse">
            <a:avLst/>
          </a:prstGeom>
          <a:solidFill>
            <a:srgbClr val="84BA6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3"/>
          <p:cNvSpPr txBox="1"/>
          <p:nvPr/>
        </p:nvSpPr>
        <p:spPr>
          <a:xfrm>
            <a:off x="1034186" y="2954426"/>
            <a:ext cx="5897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Node.js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409798" y="1756562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Shape 15"/>
          <p:cNvSpPr/>
          <p:nvPr/>
        </p:nvSpPr>
        <p:spPr>
          <a:xfrm>
            <a:off x="3409798" y="1756562"/>
            <a:ext cx="2553005" cy="28346"/>
          </a:xfrm>
          <a:prstGeom prst="rect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6"/>
          <p:cNvSpPr/>
          <p:nvPr/>
        </p:nvSpPr>
        <p:spPr>
          <a:xfrm>
            <a:off x="3610051" y="195681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705149" y="2051914"/>
            <a:ext cx="190195" cy="190195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105656" y="2020824"/>
            <a:ext cx="78181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Backend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3610051" y="2489911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19"/>
          <p:cNvSpPr/>
          <p:nvPr/>
        </p:nvSpPr>
        <p:spPr>
          <a:xfrm>
            <a:off x="3701491" y="2625242"/>
            <a:ext cx="57607" cy="57607"/>
          </a:xfrm>
          <a:prstGeom prst="ellipse">
            <a:avLst/>
          </a:prstGeom>
          <a:solidFill>
            <a:srgbClr val="3776A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5" name="Text 20"/>
          <p:cNvSpPr txBox="1"/>
          <p:nvPr/>
        </p:nvSpPr>
        <p:spPr>
          <a:xfrm>
            <a:off x="3834994" y="2551176"/>
            <a:ext cx="5340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Python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10051" y="2893162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Shape 22"/>
          <p:cNvSpPr/>
          <p:nvPr/>
        </p:nvSpPr>
        <p:spPr>
          <a:xfrm>
            <a:off x="3701491" y="3028493"/>
            <a:ext cx="57607" cy="57607"/>
          </a:xfrm>
          <a:prstGeom prst="ellipse">
            <a:avLst/>
          </a:prstGeom>
          <a:solidFill>
            <a:srgbClr val="00968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Text 23"/>
          <p:cNvSpPr txBox="1"/>
          <p:nvPr/>
        </p:nvSpPr>
        <p:spPr>
          <a:xfrm>
            <a:off x="3834994" y="2954426"/>
            <a:ext cx="58978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210605" y="1756562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5"/>
          <p:cNvSpPr/>
          <p:nvPr/>
        </p:nvSpPr>
        <p:spPr>
          <a:xfrm>
            <a:off x="6210605" y="1756562"/>
            <a:ext cx="2553005" cy="28346"/>
          </a:xfrm>
          <a:prstGeom prst="rect">
            <a:avLst/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Shape 26"/>
          <p:cNvSpPr/>
          <p:nvPr/>
        </p:nvSpPr>
        <p:spPr>
          <a:xfrm>
            <a:off x="6409944" y="195681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505956" y="2051914"/>
            <a:ext cx="190195" cy="190195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905549" y="2020824"/>
            <a:ext cx="748894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AI / LLM</a:t>
            </a:r>
            <a:endParaRPr lang="en-US" sz="1300" dirty="0"/>
          </a:p>
        </p:txBody>
      </p:sp>
      <p:sp>
        <p:nvSpPr>
          <p:cNvPr id="34" name="Shape 28"/>
          <p:cNvSpPr/>
          <p:nvPr/>
        </p:nvSpPr>
        <p:spPr>
          <a:xfrm>
            <a:off x="6409944" y="2489911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Shape 29"/>
          <p:cNvSpPr/>
          <p:nvPr/>
        </p:nvSpPr>
        <p:spPr>
          <a:xfrm>
            <a:off x="6501384" y="2625242"/>
            <a:ext cx="57607" cy="57607"/>
          </a:xfrm>
          <a:prstGeom prst="ellipse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6" name="Text 30"/>
          <p:cNvSpPr txBox="1"/>
          <p:nvPr/>
        </p:nvSpPr>
        <p:spPr>
          <a:xfrm>
            <a:off x="6634886" y="2551176"/>
            <a:ext cx="59710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4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6409944" y="2893162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Shape 32"/>
          <p:cNvSpPr/>
          <p:nvPr/>
        </p:nvSpPr>
        <p:spPr>
          <a:xfrm>
            <a:off x="6501384" y="3028493"/>
            <a:ext cx="57607" cy="576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9" name="Text 33"/>
          <p:cNvSpPr txBox="1"/>
          <p:nvPr/>
        </p:nvSpPr>
        <p:spPr>
          <a:xfrm>
            <a:off x="6634886" y="2954426"/>
            <a:ext cx="77175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</a:t>
            </a:r>
            <a:endParaRPr lang="en-US" sz="1000" dirty="0"/>
          </a:p>
        </p:txBody>
      </p:sp>
      <p:sp>
        <p:nvSpPr>
          <p:cNvPr id="40" name="Shape 34"/>
          <p:cNvSpPr/>
          <p:nvPr/>
        </p:nvSpPr>
        <p:spPr>
          <a:xfrm>
            <a:off x="9010498" y="1756562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5"/>
          <p:cNvSpPr/>
          <p:nvPr/>
        </p:nvSpPr>
        <p:spPr>
          <a:xfrm>
            <a:off x="9010498" y="1756562"/>
            <a:ext cx="2553005" cy="28346"/>
          </a:xfrm>
          <a:prstGeom prst="rect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2" name="Shape 36"/>
          <p:cNvSpPr/>
          <p:nvPr/>
        </p:nvSpPr>
        <p:spPr>
          <a:xfrm>
            <a:off x="9210751" y="195681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3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9315907" y="2051914"/>
            <a:ext cx="171907" cy="19019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9706356" y="2020824"/>
            <a:ext cx="95280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45" name="Shape 38"/>
          <p:cNvSpPr/>
          <p:nvPr/>
        </p:nvSpPr>
        <p:spPr>
          <a:xfrm>
            <a:off x="9210751" y="2489911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Shape 39"/>
          <p:cNvSpPr/>
          <p:nvPr/>
        </p:nvSpPr>
        <p:spPr>
          <a:xfrm>
            <a:off x="9302191" y="2625242"/>
            <a:ext cx="57607" cy="57607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7" name="Text 40"/>
          <p:cNvSpPr txBox="1"/>
          <p:nvPr/>
        </p:nvSpPr>
        <p:spPr>
          <a:xfrm>
            <a:off x="9435694" y="2551176"/>
            <a:ext cx="7818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ChromaDB</a:t>
            </a:r>
            <a:endParaRPr lang="en-US" sz="1000" dirty="0"/>
          </a:p>
        </p:txBody>
      </p:sp>
      <p:sp>
        <p:nvSpPr>
          <p:cNvPr id="48" name="Shape 41"/>
          <p:cNvSpPr/>
          <p:nvPr/>
        </p:nvSpPr>
        <p:spPr>
          <a:xfrm>
            <a:off x="9210751" y="2893162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Shape 42"/>
          <p:cNvSpPr/>
          <p:nvPr/>
        </p:nvSpPr>
        <p:spPr>
          <a:xfrm>
            <a:off x="9302191" y="3028493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Text 43"/>
          <p:cNvSpPr txBox="1"/>
          <p:nvPr/>
        </p:nvSpPr>
        <p:spPr>
          <a:xfrm>
            <a:off x="9435694" y="2954426"/>
            <a:ext cx="112288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 &amp; CV Colls.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609905" y="4192524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Shape 45"/>
          <p:cNvSpPr/>
          <p:nvPr/>
        </p:nvSpPr>
        <p:spPr>
          <a:xfrm>
            <a:off x="609905" y="4192524"/>
            <a:ext cx="2553005" cy="28346"/>
          </a:xfrm>
          <a:prstGeom prst="rect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Shape 46"/>
          <p:cNvSpPr/>
          <p:nvPr/>
        </p:nvSpPr>
        <p:spPr>
          <a:xfrm>
            <a:off x="809244" y="43927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4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29030" y="4487875"/>
            <a:ext cx="142646" cy="190195"/>
          </a:xfrm>
          <a:prstGeom prst="rect">
            <a:avLst/>
          </a:prstGeom>
        </p:spPr>
      </p:pic>
      <p:sp>
        <p:nvSpPr>
          <p:cNvPr id="55" name="Text 47"/>
          <p:cNvSpPr txBox="1"/>
          <p:nvPr/>
        </p:nvSpPr>
        <p:spPr>
          <a:xfrm>
            <a:off x="1304849" y="4457700"/>
            <a:ext cx="103235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Doc Parser</a:t>
            </a:r>
            <a:endParaRPr lang="en-US" sz="1300" dirty="0"/>
          </a:p>
        </p:txBody>
      </p:sp>
      <p:sp>
        <p:nvSpPr>
          <p:cNvPr id="56" name="Shape 48"/>
          <p:cNvSpPr/>
          <p:nvPr/>
        </p:nvSpPr>
        <p:spPr>
          <a:xfrm>
            <a:off x="809244" y="4926787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Shape 49"/>
          <p:cNvSpPr/>
          <p:nvPr/>
        </p:nvSpPr>
        <p:spPr>
          <a:xfrm>
            <a:off x="900684" y="5061204"/>
            <a:ext cx="57607" cy="57607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Text 50"/>
          <p:cNvSpPr txBox="1"/>
          <p:nvPr/>
        </p:nvSpPr>
        <p:spPr>
          <a:xfrm>
            <a:off x="1034186" y="4987138"/>
            <a:ext cx="71506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PyMuPDF</a:t>
            </a:r>
            <a:endParaRPr lang="en-US" sz="1000" dirty="0"/>
          </a:p>
        </p:txBody>
      </p:sp>
      <p:sp>
        <p:nvSpPr>
          <p:cNvPr id="59" name="Shape 51"/>
          <p:cNvSpPr/>
          <p:nvPr/>
        </p:nvSpPr>
        <p:spPr>
          <a:xfrm>
            <a:off x="809244" y="5330038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0" name="Shape 52"/>
          <p:cNvSpPr/>
          <p:nvPr/>
        </p:nvSpPr>
        <p:spPr>
          <a:xfrm>
            <a:off x="900684" y="5465369"/>
            <a:ext cx="57607" cy="576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1" name="Text 53"/>
          <p:cNvSpPr txBox="1"/>
          <p:nvPr/>
        </p:nvSpPr>
        <p:spPr>
          <a:xfrm>
            <a:off x="1034186" y="5391302"/>
            <a:ext cx="9144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PDF &amp; DOCX</a:t>
            </a:r>
            <a:endParaRPr lang="en-US" sz="1000" dirty="0"/>
          </a:p>
        </p:txBody>
      </p:sp>
      <p:sp>
        <p:nvSpPr>
          <p:cNvPr id="62" name="Shape 54"/>
          <p:cNvSpPr/>
          <p:nvPr/>
        </p:nvSpPr>
        <p:spPr>
          <a:xfrm>
            <a:off x="3409798" y="4192524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Shape 55"/>
          <p:cNvSpPr/>
          <p:nvPr/>
        </p:nvSpPr>
        <p:spPr>
          <a:xfrm>
            <a:off x="3409798" y="4192524"/>
            <a:ext cx="2553005" cy="28346"/>
          </a:xfrm>
          <a:prstGeom prst="rect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4" name="Shape 56"/>
          <p:cNvSpPr/>
          <p:nvPr/>
        </p:nvSpPr>
        <p:spPr>
          <a:xfrm>
            <a:off x="3610051" y="43927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681374" y="4487875"/>
            <a:ext cx="237744" cy="190195"/>
          </a:xfrm>
          <a:prstGeom prst="rect">
            <a:avLst/>
          </a:prstGeom>
        </p:spPr>
      </p:pic>
      <p:sp>
        <p:nvSpPr>
          <p:cNvPr id="66" name="Text 57"/>
          <p:cNvSpPr txBox="1"/>
          <p:nvPr/>
        </p:nvSpPr>
        <p:spPr>
          <a:xfrm>
            <a:off x="4105656" y="4457700"/>
            <a:ext cx="13716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Cloud Storage</a:t>
            </a:r>
            <a:endParaRPr lang="en-US" sz="1300" dirty="0"/>
          </a:p>
        </p:txBody>
      </p:sp>
      <p:sp>
        <p:nvSpPr>
          <p:cNvPr id="67" name="Shape 58"/>
          <p:cNvSpPr/>
          <p:nvPr/>
        </p:nvSpPr>
        <p:spPr>
          <a:xfrm>
            <a:off x="3610051" y="4926787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8" name="Shape 59"/>
          <p:cNvSpPr/>
          <p:nvPr/>
        </p:nvSpPr>
        <p:spPr>
          <a:xfrm>
            <a:off x="3701491" y="5061204"/>
            <a:ext cx="57607" cy="57607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9" name="Text 60"/>
          <p:cNvSpPr txBox="1"/>
          <p:nvPr/>
        </p:nvSpPr>
        <p:spPr>
          <a:xfrm>
            <a:off x="3834994" y="4987138"/>
            <a:ext cx="8503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Blob</a:t>
            </a:r>
            <a:endParaRPr lang="en-US" sz="1000" dirty="0"/>
          </a:p>
        </p:txBody>
      </p:sp>
      <p:sp>
        <p:nvSpPr>
          <p:cNvPr id="70" name="Shape 61"/>
          <p:cNvSpPr/>
          <p:nvPr/>
        </p:nvSpPr>
        <p:spPr>
          <a:xfrm>
            <a:off x="3610051" y="5330038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1" name="Shape 62"/>
          <p:cNvSpPr/>
          <p:nvPr/>
        </p:nvSpPr>
        <p:spPr>
          <a:xfrm>
            <a:off x="3701491" y="5465369"/>
            <a:ext cx="57607" cy="57607"/>
          </a:xfrm>
          <a:prstGeom prst="ellipse">
            <a:avLst/>
          </a:prstGeom>
          <a:solidFill>
            <a:srgbClr val="94A3B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2" name="Text 63"/>
          <p:cNvSpPr txBox="1"/>
          <p:nvPr/>
        </p:nvSpPr>
        <p:spPr>
          <a:xfrm>
            <a:off x="3834994" y="5391302"/>
            <a:ext cx="122438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Persistence</a:t>
            </a:r>
            <a:endParaRPr lang="en-US" sz="1000" dirty="0"/>
          </a:p>
        </p:txBody>
      </p:sp>
      <p:sp>
        <p:nvSpPr>
          <p:cNvPr id="73" name="Shape 64"/>
          <p:cNvSpPr/>
          <p:nvPr/>
        </p:nvSpPr>
        <p:spPr>
          <a:xfrm>
            <a:off x="6210605" y="4192524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4" name="Shape 65"/>
          <p:cNvSpPr/>
          <p:nvPr/>
        </p:nvSpPr>
        <p:spPr>
          <a:xfrm>
            <a:off x="6210605" y="4192524"/>
            <a:ext cx="2553005" cy="28346"/>
          </a:xfrm>
          <a:prstGeom prst="rect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5" name="Shape 66"/>
          <p:cNvSpPr/>
          <p:nvPr/>
        </p:nvSpPr>
        <p:spPr>
          <a:xfrm>
            <a:off x="6409944" y="43927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76" name="Image 7" descr="preencoded.png"/>
          <p:cNvPicPr>
            <a:picLocks noChangeAspect="1"/>
          </p:cNvPicPr>
          <p:nvPr/>
        </p:nvPicPr>
        <p:blipFill>
          <a:blip r:embed="rId10"/>
          <a:srcRect l="-1648" r="-1648"/>
          <a:stretch/>
        </p:blipFill>
        <p:spPr>
          <a:xfrm>
            <a:off x="6515100" y="4487875"/>
            <a:ext cx="171907" cy="190195"/>
          </a:xfrm>
          <a:prstGeom prst="rect">
            <a:avLst/>
          </a:prstGeom>
        </p:spPr>
      </p:pic>
      <p:sp>
        <p:nvSpPr>
          <p:cNvPr id="77" name="Text 67"/>
          <p:cNvSpPr txBox="1"/>
          <p:nvPr/>
        </p:nvSpPr>
        <p:spPr>
          <a:xfrm>
            <a:off x="6905549" y="4457700"/>
            <a:ext cx="753466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Hosting</a:t>
            </a:r>
            <a:endParaRPr lang="en-US" sz="1300" dirty="0"/>
          </a:p>
        </p:txBody>
      </p:sp>
      <p:sp>
        <p:nvSpPr>
          <p:cNvPr id="78" name="Shape 68"/>
          <p:cNvSpPr/>
          <p:nvPr/>
        </p:nvSpPr>
        <p:spPr>
          <a:xfrm>
            <a:off x="6409944" y="4926787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9" name="Shape 69"/>
          <p:cNvSpPr/>
          <p:nvPr/>
        </p:nvSpPr>
        <p:spPr>
          <a:xfrm>
            <a:off x="6501384" y="5061204"/>
            <a:ext cx="57607" cy="57607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0" name="Text 70"/>
          <p:cNvSpPr txBox="1"/>
          <p:nvPr/>
        </p:nvSpPr>
        <p:spPr>
          <a:xfrm>
            <a:off x="6634886" y="4987138"/>
            <a:ext cx="133776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Static Web</a:t>
            </a:r>
            <a:endParaRPr lang="en-US" sz="1000" dirty="0"/>
          </a:p>
        </p:txBody>
      </p:sp>
      <p:sp>
        <p:nvSpPr>
          <p:cNvPr id="81" name="Shape 71"/>
          <p:cNvSpPr/>
          <p:nvPr/>
        </p:nvSpPr>
        <p:spPr>
          <a:xfrm>
            <a:off x="6409944" y="5330038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2" name="Shape 72"/>
          <p:cNvSpPr/>
          <p:nvPr/>
        </p:nvSpPr>
        <p:spPr>
          <a:xfrm>
            <a:off x="6501384" y="5465369"/>
            <a:ext cx="57607" cy="57607"/>
          </a:xfrm>
          <a:prstGeom prst="ellipse">
            <a:avLst/>
          </a:prstGeom>
          <a:solidFill>
            <a:srgbClr val="0078D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3" name="Text 73"/>
          <p:cNvSpPr txBox="1"/>
          <p:nvPr/>
        </p:nvSpPr>
        <p:spPr>
          <a:xfrm>
            <a:off x="6634886" y="5391302"/>
            <a:ext cx="14484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 App Service</a:t>
            </a:r>
            <a:endParaRPr lang="en-US" sz="1000" dirty="0"/>
          </a:p>
        </p:txBody>
      </p:sp>
      <p:sp>
        <p:nvSpPr>
          <p:cNvPr id="84" name="Shape 74"/>
          <p:cNvSpPr/>
          <p:nvPr/>
        </p:nvSpPr>
        <p:spPr>
          <a:xfrm>
            <a:off x="9010498" y="4192524"/>
            <a:ext cx="2572207" cy="2210105"/>
          </a:xfrm>
          <a:prstGeom prst="roundRect">
            <a:avLst>
              <a:gd name="adj" fmla="val 4280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5" name="Shape 75"/>
          <p:cNvSpPr/>
          <p:nvPr/>
        </p:nvSpPr>
        <p:spPr>
          <a:xfrm>
            <a:off x="9010498" y="4192524"/>
            <a:ext cx="2553005" cy="28346"/>
          </a:xfrm>
          <a:prstGeom prst="rect">
            <a:avLst/>
          </a:prstGeom>
          <a:solidFill>
            <a:srgbClr val="EC48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6" name="Shape 76"/>
          <p:cNvSpPr/>
          <p:nvPr/>
        </p:nvSpPr>
        <p:spPr>
          <a:xfrm>
            <a:off x="9210751" y="4392778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0F172A">
              <a:alpha val="5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8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9282074" y="4487875"/>
            <a:ext cx="237744" cy="190195"/>
          </a:xfrm>
          <a:prstGeom prst="rect">
            <a:avLst/>
          </a:prstGeom>
        </p:spPr>
      </p:pic>
      <p:sp>
        <p:nvSpPr>
          <p:cNvPr id="88" name="Text 77"/>
          <p:cNvSpPr txBox="1"/>
          <p:nvPr/>
        </p:nvSpPr>
        <p:spPr>
          <a:xfrm>
            <a:off x="9706356" y="4457700"/>
            <a:ext cx="907085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Dev Tools</a:t>
            </a:r>
            <a:endParaRPr lang="en-US" sz="1300" dirty="0"/>
          </a:p>
        </p:txBody>
      </p:sp>
      <p:sp>
        <p:nvSpPr>
          <p:cNvPr id="89" name="Shape 78"/>
          <p:cNvSpPr/>
          <p:nvPr/>
        </p:nvSpPr>
        <p:spPr>
          <a:xfrm>
            <a:off x="9210751" y="4926787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0" name="Shape 79"/>
          <p:cNvSpPr/>
          <p:nvPr/>
        </p:nvSpPr>
        <p:spPr>
          <a:xfrm>
            <a:off x="9302191" y="5061204"/>
            <a:ext cx="57607" cy="57607"/>
          </a:xfrm>
          <a:prstGeom prst="ellipse">
            <a:avLst/>
          </a:prstGeom>
          <a:solidFill>
            <a:srgbClr val="007ACC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1" name="Text 80"/>
          <p:cNvSpPr txBox="1"/>
          <p:nvPr/>
        </p:nvSpPr>
        <p:spPr>
          <a:xfrm>
            <a:off x="9435694" y="4987138"/>
            <a:ext cx="6483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VS Code</a:t>
            </a:r>
            <a:endParaRPr lang="en-US" sz="1000" dirty="0"/>
          </a:p>
        </p:txBody>
      </p:sp>
      <p:sp>
        <p:nvSpPr>
          <p:cNvPr id="92" name="Shape 81"/>
          <p:cNvSpPr/>
          <p:nvPr/>
        </p:nvSpPr>
        <p:spPr>
          <a:xfrm>
            <a:off x="9210751" y="5330038"/>
            <a:ext cx="2171700" cy="333756"/>
          </a:xfrm>
          <a:prstGeom prst="roundRect">
            <a:avLst>
              <a:gd name="adj" fmla="val 93933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3" name="Shape 82"/>
          <p:cNvSpPr/>
          <p:nvPr/>
        </p:nvSpPr>
        <p:spPr>
          <a:xfrm>
            <a:off x="9302191" y="5465369"/>
            <a:ext cx="57607" cy="57607"/>
          </a:xfrm>
          <a:prstGeom prst="ellipse">
            <a:avLst/>
          </a:prstGeom>
          <a:solidFill>
            <a:srgbClr val="F0503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4" name="Text 83"/>
          <p:cNvSpPr txBox="1"/>
          <p:nvPr/>
        </p:nvSpPr>
        <p:spPr>
          <a:xfrm>
            <a:off x="9435694" y="5391302"/>
            <a:ext cx="96377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&amp; Docker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0" y="-1429207"/>
            <a:ext cx="5715000" cy="5715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952805" y="3524098"/>
            <a:ext cx="4762195" cy="47621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452067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2"/>
          <p:cNvSpPr txBox="1"/>
          <p:nvPr/>
        </p:nvSpPr>
        <p:spPr>
          <a:xfrm>
            <a:off x="609905" y="457200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Key Features</a:t>
            </a:r>
            <a:endParaRPr lang="en-US" sz="33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1123798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capabilities powering the intelligent recruitment platform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09905" y="1680667"/>
            <a:ext cx="2572207" cy="2124151"/>
          </a:xfrm>
          <a:prstGeom prst="roundRect">
            <a:avLst>
              <a:gd name="adj" fmla="val 61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Text 5"/>
          <p:cNvSpPr txBox="1"/>
          <p:nvPr/>
        </p:nvSpPr>
        <p:spPr>
          <a:xfrm>
            <a:off x="2516429" y="1804111"/>
            <a:ext cx="6080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Shape 6"/>
          <p:cNvSpPr/>
          <p:nvPr/>
        </p:nvSpPr>
        <p:spPr>
          <a:xfrm>
            <a:off x="3409798" y="1680667"/>
            <a:ext cx="2572207" cy="2124151"/>
          </a:xfrm>
          <a:prstGeom prst="roundRect">
            <a:avLst>
              <a:gd name="adj" fmla="val 61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Text 7"/>
          <p:cNvSpPr txBox="1"/>
          <p:nvPr/>
        </p:nvSpPr>
        <p:spPr>
          <a:xfrm>
            <a:off x="5251399" y="1804111"/>
            <a:ext cx="648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3600" dirty="0"/>
          </a:p>
        </p:txBody>
      </p:sp>
      <p:sp>
        <p:nvSpPr>
          <p:cNvPr id="12" name="Shape 8"/>
          <p:cNvSpPr/>
          <p:nvPr/>
        </p:nvSpPr>
        <p:spPr>
          <a:xfrm>
            <a:off x="6210605" y="1680667"/>
            <a:ext cx="2572207" cy="2124151"/>
          </a:xfrm>
          <a:prstGeom prst="roundRect">
            <a:avLst>
              <a:gd name="adj" fmla="val 61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9"/>
          <p:cNvSpPr txBox="1"/>
          <p:nvPr/>
        </p:nvSpPr>
        <p:spPr>
          <a:xfrm>
            <a:off x="8045806" y="1804111"/>
            <a:ext cx="657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Shape 10"/>
          <p:cNvSpPr/>
          <p:nvPr/>
        </p:nvSpPr>
        <p:spPr>
          <a:xfrm>
            <a:off x="9010498" y="1680667"/>
            <a:ext cx="2572207" cy="2124151"/>
          </a:xfrm>
          <a:prstGeom prst="roundRect">
            <a:avLst>
              <a:gd name="adj" fmla="val 61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5" name="Text 11"/>
          <p:cNvSpPr txBox="1"/>
          <p:nvPr/>
        </p:nvSpPr>
        <p:spPr>
          <a:xfrm>
            <a:off x="10832897" y="1804111"/>
            <a:ext cx="667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3600" dirty="0"/>
          </a:p>
        </p:txBody>
      </p:sp>
      <p:sp>
        <p:nvSpPr>
          <p:cNvPr id="16" name="Shape 12"/>
          <p:cNvSpPr/>
          <p:nvPr/>
        </p:nvSpPr>
        <p:spPr>
          <a:xfrm>
            <a:off x="1828800" y="4023360"/>
            <a:ext cx="2695651" cy="2124151"/>
          </a:xfrm>
          <a:prstGeom prst="roundRect">
            <a:avLst>
              <a:gd name="adj" fmla="val 61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3"/>
          <p:cNvSpPr txBox="1"/>
          <p:nvPr/>
        </p:nvSpPr>
        <p:spPr>
          <a:xfrm>
            <a:off x="3788359" y="4147718"/>
            <a:ext cx="6483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3600" dirty="0"/>
          </a:p>
        </p:txBody>
      </p:sp>
      <p:sp>
        <p:nvSpPr>
          <p:cNvPr id="18" name="Shape 14"/>
          <p:cNvSpPr/>
          <p:nvPr/>
        </p:nvSpPr>
        <p:spPr>
          <a:xfrm>
            <a:off x="4749394" y="4023360"/>
            <a:ext cx="2695651" cy="2124151"/>
          </a:xfrm>
          <a:prstGeom prst="roundRect">
            <a:avLst>
              <a:gd name="adj" fmla="val 61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9" name="Text 15"/>
          <p:cNvSpPr txBox="1"/>
          <p:nvPr/>
        </p:nvSpPr>
        <p:spPr>
          <a:xfrm>
            <a:off x="6701638" y="4147718"/>
            <a:ext cx="6574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3600" dirty="0"/>
          </a:p>
        </p:txBody>
      </p:sp>
      <p:sp>
        <p:nvSpPr>
          <p:cNvPr id="20" name="Shape 16"/>
          <p:cNvSpPr/>
          <p:nvPr/>
        </p:nvSpPr>
        <p:spPr>
          <a:xfrm>
            <a:off x="7670902" y="4023360"/>
            <a:ext cx="2695651" cy="2124151"/>
          </a:xfrm>
          <a:prstGeom prst="roundRect">
            <a:avLst>
              <a:gd name="adj" fmla="val 6177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Text 17"/>
          <p:cNvSpPr txBox="1"/>
          <p:nvPr/>
        </p:nvSpPr>
        <p:spPr>
          <a:xfrm>
            <a:off x="9660636" y="4147718"/>
            <a:ext cx="61996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>
                    <a:alpha val="3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3600" dirty="0"/>
          </a:p>
        </p:txBody>
      </p:sp>
      <p:sp>
        <p:nvSpPr>
          <p:cNvPr id="22" name="Shape 18"/>
          <p:cNvSpPr/>
          <p:nvPr/>
        </p:nvSpPr>
        <p:spPr>
          <a:xfrm>
            <a:off x="809244" y="188000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918972" y="2013509"/>
            <a:ext cx="237744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09244" y="2489911"/>
            <a:ext cx="22585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 Portals</a:t>
            </a:r>
            <a:endParaRPr lang="en-US" sz="1300" dirty="0"/>
          </a:p>
        </p:txBody>
      </p:sp>
      <p:sp>
        <p:nvSpPr>
          <p:cNvPr id="25" name="Text 20"/>
          <p:cNvSpPr txBox="1"/>
          <p:nvPr/>
        </p:nvSpPr>
        <p:spPr>
          <a:xfrm>
            <a:off x="809244" y="2817266"/>
            <a:ext cx="22485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Dedicated interfaces for securely uploading both candidate CVs and detailed Job Descriptions via drag-and-drop.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3610051" y="188000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743554" y="2013509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3610051" y="2489911"/>
            <a:ext cx="22585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Default Roles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3610051" y="2817266"/>
            <a:ext cx="22485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Convenient dropdown menu featuring pre-loaded, industry-standard JDs for common roles to speed up testing.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6409944" y="188000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472B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 r:embed="rId7"/>
          <a:srcRect l="-1282" r="-1282"/>
          <a:stretch/>
        </p:blipFill>
        <p:spPr>
          <a:xfrm>
            <a:off x="6529730" y="2013509"/>
            <a:ext cx="219456" cy="19019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6409944" y="2489911"/>
            <a:ext cx="22585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Customize JDs</a:t>
            </a:r>
            <a:endParaRPr lang="en-US" sz="1300" dirty="0"/>
          </a:p>
        </p:txBody>
      </p:sp>
      <p:sp>
        <p:nvSpPr>
          <p:cNvPr id="33" name="Text 26"/>
          <p:cNvSpPr txBox="1"/>
          <p:nvPr/>
        </p:nvSpPr>
        <p:spPr>
          <a:xfrm>
            <a:off x="6409944" y="2817266"/>
            <a:ext cx="2248510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Easily download, edit text directly, and re-upload Job Descriptions to match precise hiring needs.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9210751" y="1880006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5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320479" y="2013509"/>
            <a:ext cx="237744" cy="190195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9210751" y="2489911"/>
            <a:ext cx="225856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Pipeline</a:t>
            </a:r>
            <a:endParaRPr lang="en-US" sz="1300" dirty="0"/>
          </a:p>
        </p:txBody>
      </p:sp>
      <p:sp>
        <p:nvSpPr>
          <p:cNvPr id="37" name="Text 29"/>
          <p:cNvSpPr txBox="1"/>
          <p:nvPr/>
        </p:nvSpPr>
        <p:spPr>
          <a:xfrm>
            <a:off x="9210751" y="2817266"/>
            <a:ext cx="2248510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Retrieval-Augmented Generation system ensures every AI answer is grounded in the actual document text.</a:t>
            </a:r>
            <a:endParaRPr lang="en-US" sz="1000" dirty="0"/>
          </a:p>
        </p:txBody>
      </p:sp>
      <p:sp>
        <p:nvSpPr>
          <p:cNvPr id="38" name="Shape 30"/>
          <p:cNvSpPr/>
          <p:nvPr/>
        </p:nvSpPr>
        <p:spPr>
          <a:xfrm>
            <a:off x="2029054" y="422361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BBF2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2138782" y="4357116"/>
            <a:ext cx="237744" cy="190195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2029054" y="4833518"/>
            <a:ext cx="23874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Candidate Ranking</a:t>
            </a:r>
            <a:endParaRPr lang="en-US" sz="1300" dirty="0"/>
          </a:p>
        </p:txBody>
      </p:sp>
      <p:sp>
        <p:nvSpPr>
          <p:cNvPr id="41" name="Text 32"/>
          <p:cNvSpPr txBox="1"/>
          <p:nvPr/>
        </p:nvSpPr>
        <p:spPr>
          <a:xfrm>
            <a:off x="2029054" y="5160874"/>
            <a:ext cx="2371954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matching engine ranks applicants quantitatively (0-100%) by analyzing alignment with specific JD criteria.</a:t>
            </a:r>
            <a:endParaRPr lang="en-US" sz="1000" dirty="0"/>
          </a:p>
        </p:txBody>
      </p:sp>
      <p:sp>
        <p:nvSpPr>
          <p:cNvPr id="42" name="Shape 33"/>
          <p:cNvSpPr/>
          <p:nvPr/>
        </p:nvSpPr>
        <p:spPr>
          <a:xfrm>
            <a:off x="4949647" y="422361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5059375" y="4357116"/>
            <a:ext cx="237744" cy="19019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4949647" y="4833518"/>
            <a:ext cx="23874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Conversational AI</a:t>
            </a:r>
            <a:endParaRPr lang="en-US" sz="1300" dirty="0"/>
          </a:p>
        </p:txBody>
      </p:sp>
      <p:sp>
        <p:nvSpPr>
          <p:cNvPr id="45" name="Text 35"/>
          <p:cNvSpPr txBox="1"/>
          <p:nvPr/>
        </p:nvSpPr>
        <p:spPr>
          <a:xfrm>
            <a:off x="4949647" y="5160874"/>
            <a:ext cx="2371954" cy="7818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Interactive chat interface using LangChain Memory Buffer to retain context history for natural follow-up questions.</a:t>
            </a:r>
            <a:endParaRPr lang="en-US" sz="1000" dirty="0"/>
          </a:p>
        </p:txBody>
      </p:sp>
      <p:sp>
        <p:nvSpPr>
          <p:cNvPr id="46" name="Shape 36"/>
          <p:cNvSpPr/>
          <p:nvPr/>
        </p:nvSpPr>
        <p:spPr>
          <a:xfrm>
            <a:off x="7871155" y="4223614"/>
            <a:ext cx="457200" cy="457200"/>
          </a:xfrm>
          <a:prstGeom prst="roundRect">
            <a:avLst>
              <a:gd name="adj" fmla="val 100000"/>
            </a:avLst>
          </a:prstGeom>
          <a:solidFill>
            <a:srgbClr val="F8717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8003743" y="4357116"/>
            <a:ext cx="190195" cy="190195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7871155" y="4833518"/>
            <a:ext cx="2387498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Multi-format Support</a:t>
            </a:r>
            <a:endParaRPr lang="en-US" sz="1300" dirty="0"/>
          </a:p>
        </p:txBody>
      </p:sp>
      <p:sp>
        <p:nvSpPr>
          <p:cNvPr id="49" name="Text 38"/>
          <p:cNvSpPr txBox="1"/>
          <p:nvPr/>
        </p:nvSpPr>
        <p:spPr>
          <a:xfrm>
            <a:off x="7871155" y="5160874"/>
            <a:ext cx="2371954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Seamless parsing and processing of both PDF and DOCX files using the robust PyMuPDF library.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2286000" y="571500"/>
            <a:ext cx="7619695" cy="5715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09905" y="1452067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" name="Text 2"/>
          <p:cNvSpPr txBox="1"/>
          <p:nvPr/>
        </p:nvSpPr>
        <p:spPr>
          <a:xfrm>
            <a:off x="609905" y="457200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System Workflow</a:t>
            </a:r>
            <a:endParaRPr lang="en-US" sz="3300" dirty="0"/>
          </a:p>
        </p:txBody>
      </p:sp>
      <p:sp>
        <p:nvSpPr>
          <p:cNvPr id="6" name="Text 3"/>
          <p:cNvSpPr txBox="1"/>
          <p:nvPr/>
        </p:nvSpPr>
        <p:spPr>
          <a:xfrm>
            <a:off x="609905" y="1123798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Step-by-step data flow from document upload to final candidate ranking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09905" y="2324405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Shape 5"/>
          <p:cNvSpPr/>
          <p:nvPr/>
        </p:nvSpPr>
        <p:spPr>
          <a:xfrm>
            <a:off x="609905" y="2324405"/>
            <a:ext cx="28346" cy="1533449"/>
          </a:xfrm>
          <a:prstGeom prst="roundRect">
            <a:avLst>
              <a:gd name="adj" fmla="val 480872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6"/>
          <p:cNvSpPr/>
          <p:nvPr/>
        </p:nvSpPr>
        <p:spPr>
          <a:xfrm>
            <a:off x="2271370" y="2409444"/>
            <a:ext cx="256946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Text 7"/>
          <p:cNvSpPr txBox="1"/>
          <p:nvPr/>
        </p:nvSpPr>
        <p:spPr>
          <a:xfrm>
            <a:off x="2271370" y="2409444"/>
            <a:ext cx="3337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90956" y="248625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rcRect t="-1310" b="-1310"/>
          <a:stretch/>
        </p:blipFill>
        <p:spPr>
          <a:xfrm>
            <a:off x="875995" y="2590495"/>
            <a:ext cx="209398" cy="171907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90956" y="2980944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Upload Documents</a:t>
            </a:r>
            <a:endParaRPr lang="en-US" sz="1100" dirty="0"/>
          </a:p>
        </p:txBody>
      </p:sp>
      <p:sp>
        <p:nvSpPr>
          <p:cNvPr id="14" name="Text 10"/>
          <p:cNvSpPr txBox="1"/>
          <p:nvPr/>
        </p:nvSpPr>
        <p:spPr>
          <a:xfrm>
            <a:off x="790956" y="3207715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uploads CV(s) and JD via React Frontend interface.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841955" y="2324405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2"/>
          <p:cNvSpPr/>
          <p:nvPr/>
        </p:nvSpPr>
        <p:spPr>
          <a:xfrm>
            <a:off x="4485132" y="2409444"/>
            <a:ext cx="2761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Text 13"/>
          <p:cNvSpPr txBox="1"/>
          <p:nvPr/>
        </p:nvSpPr>
        <p:spPr>
          <a:xfrm>
            <a:off x="4485132" y="2409444"/>
            <a:ext cx="3529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003804" y="248625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 t="-2222" b="-2222"/>
          <a:stretch/>
        </p:blipFill>
        <p:spPr>
          <a:xfrm>
            <a:off x="3132734" y="2590495"/>
            <a:ext cx="123444" cy="171907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3003804" y="2980944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Parse &amp; Chunk</a:t>
            </a:r>
            <a:endParaRPr lang="en-US" sz="1100" dirty="0"/>
          </a:p>
        </p:txBody>
      </p:sp>
      <p:sp>
        <p:nvSpPr>
          <p:cNvPr id="21" name="Text 16"/>
          <p:cNvSpPr txBox="1"/>
          <p:nvPr/>
        </p:nvSpPr>
        <p:spPr>
          <a:xfrm>
            <a:off x="3003804" y="3207715"/>
            <a:ext cx="17931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PyMuPDF extracts text; system splits into manageable chunks.</a:t>
            </a:r>
            <a:endParaRPr lang="en-US" sz="900" dirty="0"/>
          </a:p>
        </p:txBody>
      </p:sp>
      <p:sp>
        <p:nvSpPr>
          <p:cNvPr id="22" name="Shape 17"/>
          <p:cNvSpPr/>
          <p:nvPr/>
        </p:nvSpPr>
        <p:spPr>
          <a:xfrm>
            <a:off x="5074920" y="2324405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3" name="Shape 18"/>
          <p:cNvSpPr/>
          <p:nvPr/>
        </p:nvSpPr>
        <p:spPr>
          <a:xfrm>
            <a:off x="6716268" y="2409444"/>
            <a:ext cx="286207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Text 19"/>
          <p:cNvSpPr txBox="1"/>
          <p:nvPr/>
        </p:nvSpPr>
        <p:spPr>
          <a:xfrm>
            <a:off x="6716268" y="2409444"/>
            <a:ext cx="3621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000" dirty="0"/>
          </a:p>
        </p:txBody>
      </p:sp>
      <p:sp>
        <p:nvSpPr>
          <p:cNvPr id="25" name="Shape 20"/>
          <p:cNvSpPr/>
          <p:nvPr/>
        </p:nvSpPr>
        <p:spPr>
          <a:xfrm>
            <a:off x="5236769" y="248625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rcRect t="-842" b="-842"/>
          <a:stretch/>
        </p:blipFill>
        <p:spPr>
          <a:xfrm>
            <a:off x="5331866" y="2590495"/>
            <a:ext cx="190195" cy="1719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236769" y="2980944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Embeddings Gen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5236769" y="3207715"/>
            <a:ext cx="17931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LangChain uses model to generate vector representations.</a:t>
            </a:r>
            <a:endParaRPr lang="en-US" sz="900" dirty="0"/>
          </a:p>
        </p:txBody>
      </p:sp>
      <p:sp>
        <p:nvSpPr>
          <p:cNvPr id="29" name="Shape 23"/>
          <p:cNvSpPr/>
          <p:nvPr/>
        </p:nvSpPr>
        <p:spPr>
          <a:xfrm>
            <a:off x="7307885" y="2324405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Shape 24"/>
          <p:cNvSpPr/>
          <p:nvPr/>
        </p:nvSpPr>
        <p:spPr>
          <a:xfrm>
            <a:off x="8945575" y="2409444"/>
            <a:ext cx="286207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5"/>
          <p:cNvSpPr txBox="1"/>
          <p:nvPr/>
        </p:nvSpPr>
        <p:spPr>
          <a:xfrm>
            <a:off x="8945575" y="2409444"/>
            <a:ext cx="3621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7469734" y="248625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BBF2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rcRect t="-2725" b="-2725"/>
          <a:stretch/>
        </p:blipFill>
        <p:spPr>
          <a:xfrm>
            <a:off x="7588606" y="2590495"/>
            <a:ext cx="142646" cy="171907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7469734" y="2980944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Vector Storage</a:t>
            </a:r>
            <a:endParaRPr lang="en-US" sz="1100" dirty="0"/>
          </a:p>
        </p:txBody>
      </p:sp>
      <p:sp>
        <p:nvSpPr>
          <p:cNvPr id="35" name="Text 28"/>
          <p:cNvSpPr txBox="1"/>
          <p:nvPr/>
        </p:nvSpPr>
        <p:spPr>
          <a:xfrm>
            <a:off x="7469734" y="3207715"/>
            <a:ext cx="17931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Embeddings stored in ChromaDB for semantic search.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9539935" y="2324405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Shape 30"/>
          <p:cNvSpPr/>
          <p:nvPr/>
        </p:nvSpPr>
        <p:spPr>
          <a:xfrm>
            <a:off x="11182198" y="2409444"/>
            <a:ext cx="2761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8" name="Text 31"/>
          <p:cNvSpPr txBox="1"/>
          <p:nvPr/>
        </p:nvSpPr>
        <p:spPr>
          <a:xfrm>
            <a:off x="11182198" y="2409444"/>
            <a:ext cx="3529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000" dirty="0"/>
          </a:p>
        </p:txBody>
      </p:sp>
      <p:sp>
        <p:nvSpPr>
          <p:cNvPr id="39" name="Shape 32"/>
          <p:cNvSpPr/>
          <p:nvPr/>
        </p:nvSpPr>
        <p:spPr>
          <a:xfrm>
            <a:off x="9701784" y="248625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BBF2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9806940" y="2590495"/>
            <a:ext cx="171907" cy="171907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9701784" y="2980944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File Persistence</a:t>
            </a:r>
            <a:endParaRPr lang="en-US" sz="1100" dirty="0"/>
          </a:p>
        </p:txBody>
      </p:sp>
      <p:sp>
        <p:nvSpPr>
          <p:cNvPr id="42" name="Text 34"/>
          <p:cNvSpPr txBox="1"/>
          <p:nvPr/>
        </p:nvSpPr>
        <p:spPr>
          <a:xfrm>
            <a:off x="9701784" y="3207715"/>
            <a:ext cx="17931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Raw files archived securely to Azure Blob Storage.</a:t>
            </a:r>
            <a:endParaRPr lang="en-US" sz="900" dirty="0"/>
          </a:p>
        </p:txBody>
      </p:sp>
      <p:sp>
        <p:nvSpPr>
          <p:cNvPr id="43" name="Shape 35"/>
          <p:cNvSpPr/>
          <p:nvPr/>
        </p:nvSpPr>
        <p:spPr>
          <a:xfrm>
            <a:off x="609905" y="4230929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Shape 36"/>
          <p:cNvSpPr/>
          <p:nvPr/>
        </p:nvSpPr>
        <p:spPr>
          <a:xfrm>
            <a:off x="2249424" y="4316882"/>
            <a:ext cx="286207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Text 37"/>
          <p:cNvSpPr txBox="1"/>
          <p:nvPr/>
        </p:nvSpPr>
        <p:spPr>
          <a:xfrm>
            <a:off x="2249424" y="4316882"/>
            <a:ext cx="3621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771754" y="4392778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472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875995" y="4497934"/>
            <a:ext cx="171907" cy="171907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771754" y="4888382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Query Interface</a:t>
            </a:r>
            <a:endParaRPr lang="en-US" sz="1100" dirty="0"/>
          </a:p>
        </p:txBody>
      </p:sp>
      <p:sp>
        <p:nvSpPr>
          <p:cNvPr id="49" name="Text 40"/>
          <p:cNvSpPr txBox="1"/>
          <p:nvPr/>
        </p:nvSpPr>
        <p:spPr>
          <a:xfrm>
            <a:off x="771754" y="5115154"/>
            <a:ext cx="17931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HR initiates search or chat query via conversational AI.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2841955" y="4230929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Shape 42"/>
          <p:cNvSpPr/>
          <p:nvPr/>
        </p:nvSpPr>
        <p:spPr>
          <a:xfrm>
            <a:off x="4493362" y="4316882"/>
            <a:ext cx="2761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2" name="Text 43"/>
          <p:cNvSpPr txBox="1"/>
          <p:nvPr/>
        </p:nvSpPr>
        <p:spPr>
          <a:xfrm>
            <a:off x="4493362" y="4316882"/>
            <a:ext cx="3529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07</a:t>
            </a:r>
            <a:endParaRPr lang="en-US" sz="1000" dirty="0"/>
          </a:p>
        </p:txBody>
      </p:sp>
      <p:sp>
        <p:nvSpPr>
          <p:cNvPr id="53" name="Shape 44"/>
          <p:cNvSpPr/>
          <p:nvPr/>
        </p:nvSpPr>
        <p:spPr>
          <a:xfrm>
            <a:off x="3003804" y="4392778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472B6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4" name="Image 7" descr="preencoded.png"/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108960" y="4497934"/>
            <a:ext cx="171907" cy="171907"/>
          </a:xfrm>
          <a:prstGeom prst="rect">
            <a:avLst/>
          </a:prstGeom>
        </p:spPr>
      </p:pic>
      <p:sp>
        <p:nvSpPr>
          <p:cNvPr id="55" name="Text 45"/>
          <p:cNvSpPr txBox="1"/>
          <p:nvPr/>
        </p:nvSpPr>
        <p:spPr>
          <a:xfrm>
            <a:off x="3003804" y="4888382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RAG Retrieval</a:t>
            </a:r>
            <a:endParaRPr lang="en-US" sz="1100" dirty="0"/>
          </a:p>
        </p:txBody>
      </p:sp>
      <p:sp>
        <p:nvSpPr>
          <p:cNvPr id="56" name="Text 46"/>
          <p:cNvSpPr txBox="1"/>
          <p:nvPr/>
        </p:nvSpPr>
        <p:spPr>
          <a:xfrm>
            <a:off x="3003804" y="5115154"/>
            <a:ext cx="1793138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retrieves most relevant text chunks from ChromaDB.</a:t>
            </a:r>
            <a:endParaRPr lang="en-US" sz="900" dirty="0"/>
          </a:p>
        </p:txBody>
      </p:sp>
      <p:sp>
        <p:nvSpPr>
          <p:cNvPr id="57" name="Shape 47"/>
          <p:cNvSpPr/>
          <p:nvPr/>
        </p:nvSpPr>
        <p:spPr>
          <a:xfrm>
            <a:off x="5074920" y="4230929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Shape 48"/>
          <p:cNvSpPr/>
          <p:nvPr/>
        </p:nvSpPr>
        <p:spPr>
          <a:xfrm>
            <a:off x="6717182" y="4316882"/>
            <a:ext cx="276149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9" name="Text 49"/>
          <p:cNvSpPr txBox="1"/>
          <p:nvPr/>
        </p:nvSpPr>
        <p:spPr>
          <a:xfrm>
            <a:off x="6717182" y="4316882"/>
            <a:ext cx="352958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08</a:t>
            </a:r>
            <a:endParaRPr lang="en-US" sz="1000" dirty="0"/>
          </a:p>
        </p:txBody>
      </p:sp>
      <p:sp>
        <p:nvSpPr>
          <p:cNvPr id="60" name="Shape 50"/>
          <p:cNvSpPr/>
          <p:nvPr/>
        </p:nvSpPr>
        <p:spPr>
          <a:xfrm>
            <a:off x="5236769" y="4392778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A78BFA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1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5341925" y="4497934"/>
            <a:ext cx="171907" cy="171907"/>
          </a:xfrm>
          <a:prstGeom prst="rect">
            <a:avLst/>
          </a:prstGeom>
        </p:spPr>
      </p:pic>
      <p:sp>
        <p:nvSpPr>
          <p:cNvPr id="62" name="Text 51"/>
          <p:cNvSpPr txBox="1"/>
          <p:nvPr/>
        </p:nvSpPr>
        <p:spPr>
          <a:xfrm>
            <a:off x="5236769" y="4888382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LLM Processing</a:t>
            </a:r>
            <a:endParaRPr lang="en-US" sz="1100" dirty="0"/>
          </a:p>
        </p:txBody>
      </p:sp>
      <p:sp>
        <p:nvSpPr>
          <p:cNvPr id="63" name="Text 52"/>
          <p:cNvSpPr txBox="1"/>
          <p:nvPr/>
        </p:nvSpPr>
        <p:spPr>
          <a:xfrm>
            <a:off x="5236769" y="5115154"/>
            <a:ext cx="17931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Llama 4 processes query + retrieved context + chat history.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7307885" y="4230929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Shape 54"/>
          <p:cNvSpPr/>
          <p:nvPr/>
        </p:nvSpPr>
        <p:spPr>
          <a:xfrm>
            <a:off x="8947404" y="4316882"/>
            <a:ext cx="286207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Text 55"/>
          <p:cNvSpPr txBox="1"/>
          <p:nvPr/>
        </p:nvSpPr>
        <p:spPr>
          <a:xfrm>
            <a:off x="8947404" y="4316882"/>
            <a:ext cx="362102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09</a:t>
            </a:r>
            <a:endParaRPr lang="en-US" sz="1000" dirty="0"/>
          </a:p>
        </p:txBody>
      </p:sp>
      <p:sp>
        <p:nvSpPr>
          <p:cNvPr id="67" name="Shape 56"/>
          <p:cNvSpPr/>
          <p:nvPr/>
        </p:nvSpPr>
        <p:spPr>
          <a:xfrm>
            <a:off x="7469734" y="4392778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8" name="Image 9" descr="preencoded.png"/>
          <p:cNvPicPr>
            <a:picLocks noChangeAspect="1"/>
          </p:cNvPicPr>
          <p:nvPr/>
        </p:nvPicPr>
        <p:blipFill>
          <a:blip r:embed="rId12"/>
          <a:srcRect t="-842" b="-842"/>
          <a:stretch/>
        </p:blipFill>
        <p:spPr>
          <a:xfrm>
            <a:off x="7564831" y="4497934"/>
            <a:ext cx="190195" cy="171907"/>
          </a:xfrm>
          <a:prstGeom prst="rect">
            <a:avLst/>
          </a:prstGeom>
        </p:spPr>
      </p:pic>
      <p:sp>
        <p:nvSpPr>
          <p:cNvPr id="69" name="Text 57"/>
          <p:cNvSpPr txBox="1"/>
          <p:nvPr/>
        </p:nvSpPr>
        <p:spPr>
          <a:xfrm>
            <a:off x="7469734" y="4888382"/>
            <a:ext cx="1800454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Generate Response</a:t>
            </a:r>
            <a:endParaRPr lang="en-US" sz="1100" dirty="0"/>
          </a:p>
        </p:txBody>
      </p:sp>
      <p:sp>
        <p:nvSpPr>
          <p:cNvPr id="70" name="Text 58"/>
          <p:cNvSpPr txBox="1"/>
          <p:nvPr/>
        </p:nvSpPr>
        <p:spPr>
          <a:xfrm>
            <a:off x="7469734" y="5115154"/>
            <a:ext cx="1793138" cy="486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produces structured rankings and grounded answers.</a:t>
            </a:r>
            <a:endParaRPr lang="en-US" sz="900" dirty="0"/>
          </a:p>
        </p:txBody>
      </p:sp>
      <p:sp>
        <p:nvSpPr>
          <p:cNvPr id="71" name="Shape 59"/>
          <p:cNvSpPr/>
          <p:nvPr/>
        </p:nvSpPr>
        <p:spPr>
          <a:xfrm>
            <a:off x="9539935" y="4230929"/>
            <a:ext cx="2048256" cy="1533449"/>
          </a:xfrm>
          <a:prstGeom prst="roundRect">
            <a:avLst>
              <a:gd name="adj" fmla="val 8889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2" name="Shape 60"/>
          <p:cNvSpPr/>
          <p:nvPr/>
        </p:nvSpPr>
        <p:spPr>
          <a:xfrm>
            <a:off x="9539935" y="4230929"/>
            <a:ext cx="28346" cy="1533449"/>
          </a:xfrm>
          <a:prstGeom prst="roundRect">
            <a:avLst>
              <a:gd name="adj" fmla="val 480872"/>
            </a:avLst>
          </a:prstGeom>
          <a:solidFill>
            <a:srgbClr val="34D399"/>
          </a:solidFill>
          <a:ln w="12700">
            <a:solidFill>
              <a:srgbClr val="34D39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3" name="Shape 61"/>
          <p:cNvSpPr/>
          <p:nvPr/>
        </p:nvSpPr>
        <p:spPr>
          <a:xfrm>
            <a:off x="11201400" y="4316882"/>
            <a:ext cx="256946" cy="237744"/>
          </a:xfrm>
          <a:prstGeom prst="roundRect">
            <a:avLst>
              <a:gd name="adj" fmla="val 123077"/>
            </a:avLst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4" name="Text 62"/>
          <p:cNvSpPr txBox="1"/>
          <p:nvPr/>
        </p:nvSpPr>
        <p:spPr>
          <a:xfrm>
            <a:off x="11201400" y="4316882"/>
            <a:ext cx="333756" cy="238658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63500" tIns="25400" rIns="63500" bIns="254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>
                    <a:alpha val="15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10</a:t>
            </a:r>
            <a:endParaRPr lang="en-US" sz="1000" dirty="0"/>
          </a:p>
        </p:txBody>
      </p:sp>
      <p:sp>
        <p:nvSpPr>
          <p:cNvPr id="75" name="Shape 63"/>
          <p:cNvSpPr/>
          <p:nvPr/>
        </p:nvSpPr>
        <p:spPr>
          <a:xfrm>
            <a:off x="9720986" y="4392778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34D399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9826142" y="4497934"/>
            <a:ext cx="171907" cy="171907"/>
          </a:xfrm>
          <a:prstGeom prst="rect">
            <a:avLst/>
          </a:prstGeom>
        </p:spPr>
      </p:pic>
      <p:sp>
        <p:nvSpPr>
          <p:cNvPr id="77" name="Text 64"/>
          <p:cNvSpPr txBox="1"/>
          <p:nvPr/>
        </p:nvSpPr>
        <p:spPr>
          <a:xfrm>
            <a:off x="9720986" y="4888382"/>
            <a:ext cx="178125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E8F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Display Results</a:t>
            </a:r>
            <a:endParaRPr lang="en-US" sz="1100" dirty="0"/>
          </a:p>
        </p:txBody>
      </p:sp>
      <p:sp>
        <p:nvSpPr>
          <p:cNvPr id="78" name="Text 65"/>
          <p:cNvSpPr txBox="1"/>
          <p:nvPr/>
        </p:nvSpPr>
        <p:spPr>
          <a:xfrm>
            <a:off x="9720986" y="5115154"/>
            <a:ext cx="1773936" cy="3246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Rankings and insights displayed on the dashboard.</a:t>
            </a:r>
            <a:endParaRPr lang="en-US" sz="900" dirty="0"/>
          </a:p>
        </p:txBody>
      </p:sp>
      <p:pic>
        <p:nvPicPr>
          <p:cNvPr id="79" name="Image 11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2702966" y="3024835"/>
            <a:ext cx="75895" cy="123444"/>
          </a:xfrm>
          <a:prstGeom prst="rect">
            <a:avLst/>
          </a:prstGeom>
        </p:spPr>
      </p:pic>
      <p:pic>
        <p:nvPicPr>
          <p:cNvPr id="80" name="Image 12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4935931" y="3024835"/>
            <a:ext cx="75895" cy="123444"/>
          </a:xfrm>
          <a:prstGeom prst="rect">
            <a:avLst/>
          </a:prstGeom>
        </p:spPr>
      </p:pic>
      <p:pic>
        <p:nvPicPr>
          <p:cNvPr id="81" name="Image 13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7167982" y="3024835"/>
            <a:ext cx="75895" cy="123444"/>
          </a:xfrm>
          <a:prstGeom prst="rect">
            <a:avLst/>
          </a:prstGeom>
        </p:spPr>
      </p:pic>
      <p:pic>
        <p:nvPicPr>
          <p:cNvPr id="82" name="Image 14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9400946" y="3024835"/>
            <a:ext cx="75895" cy="123444"/>
          </a:xfrm>
          <a:prstGeom prst="rect">
            <a:avLst/>
          </a:prstGeom>
        </p:spPr>
      </p:pic>
      <p:pic>
        <p:nvPicPr>
          <p:cNvPr id="83" name="Image 15" descr="preencoded.png"/>
          <p:cNvPicPr>
            <a:picLocks noChangeAspect="1"/>
          </p:cNvPicPr>
          <p:nvPr/>
        </p:nvPicPr>
        <p:blipFill>
          <a:blip r:embed="rId15"/>
          <a:srcRect l="-1358" r="-1358"/>
          <a:stretch/>
        </p:blipFill>
        <p:spPr>
          <a:xfrm>
            <a:off x="11401654" y="3024835"/>
            <a:ext cx="95098" cy="123444"/>
          </a:xfrm>
          <a:prstGeom prst="rect">
            <a:avLst/>
          </a:prstGeom>
        </p:spPr>
      </p:pic>
      <p:pic>
        <p:nvPicPr>
          <p:cNvPr id="84" name="Image 16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2702966" y="4932274"/>
            <a:ext cx="75895" cy="123444"/>
          </a:xfrm>
          <a:prstGeom prst="rect">
            <a:avLst/>
          </a:prstGeom>
        </p:spPr>
      </p:pic>
      <p:pic>
        <p:nvPicPr>
          <p:cNvPr id="85" name="Image 17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4935931" y="4932274"/>
            <a:ext cx="75895" cy="123444"/>
          </a:xfrm>
          <a:prstGeom prst="rect">
            <a:avLst/>
          </a:prstGeom>
        </p:spPr>
      </p:pic>
      <p:pic>
        <p:nvPicPr>
          <p:cNvPr id="86" name="Image 18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7167982" y="4932274"/>
            <a:ext cx="75895" cy="123444"/>
          </a:xfrm>
          <a:prstGeom prst="rect">
            <a:avLst/>
          </a:prstGeom>
        </p:spPr>
      </p:pic>
      <p:pic>
        <p:nvPicPr>
          <p:cNvPr id="87" name="Image 19" descr="preencoded.png"/>
          <p:cNvPicPr>
            <a:picLocks noChangeAspect="1"/>
          </p:cNvPicPr>
          <p:nvPr/>
        </p:nvPicPr>
        <p:blipFill>
          <a:blip r:embed="rId14"/>
          <a:srcRect t="-829" b="-829"/>
          <a:stretch/>
        </p:blipFill>
        <p:spPr>
          <a:xfrm>
            <a:off x="9400946" y="4932274"/>
            <a:ext cx="75895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476402" y="-952805"/>
            <a:ext cx="5715000" cy="5715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05902" y="3047695"/>
            <a:ext cx="4762195" cy="476219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290700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2"/>
          <p:cNvSpPr txBox="1"/>
          <p:nvPr/>
        </p:nvSpPr>
        <p:spPr>
          <a:xfrm>
            <a:off x="609905" y="295833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User Interface &amp; Experience</a:t>
            </a:r>
            <a:endParaRPr lang="en-US" sz="33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962431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Designing an intuitive, accessible, and high-performance recruitment platform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609905" y="1519300"/>
            <a:ext cx="3847795" cy="5238598"/>
          </a:xfrm>
          <a:prstGeom prst="roundRect">
            <a:avLst>
              <a:gd name="adj" fmla="val 1882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9" name="Shape 5"/>
          <p:cNvSpPr/>
          <p:nvPr/>
        </p:nvSpPr>
        <p:spPr>
          <a:xfrm>
            <a:off x="609905" y="1519300"/>
            <a:ext cx="3821278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0" name="Shape 6"/>
          <p:cNvSpPr/>
          <p:nvPr/>
        </p:nvSpPr>
        <p:spPr>
          <a:xfrm>
            <a:off x="847649" y="175704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 t="-842" b="-842"/>
          <a:stretch/>
        </p:blipFill>
        <p:spPr>
          <a:xfrm>
            <a:off x="942746" y="1862200"/>
            <a:ext cx="190195" cy="171907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343254" y="1804593"/>
            <a:ext cx="1440180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Core Screens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47649" y="2328544"/>
            <a:ext cx="3372307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rcRect t="-1554" b="-1554"/>
          <a:stretch/>
        </p:blipFill>
        <p:spPr>
          <a:xfrm>
            <a:off x="923544" y="2442844"/>
            <a:ext cx="161849" cy="133502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00607" y="2404439"/>
            <a:ext cx="30202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Upload Portal: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Drag-and-drop zone for bulk CV and JD ingestion.</a:t>
            </a:r>
            <a:endParaRPr lang="en-US" sz="1100" dirty="0"/>
          </a:p>
        </p:txBody>
      </p:sp>
      <p:sp>
        <p:nvSpPr>
          <p:cNvPr id="16" name="Shape 10"/>
          <p:cNvSpPr/>
          <p:nvPr/>
        </p:nvSpPr>
        <p:spPr>
          <a:xfrm>
            <a:off x="847649" y="3067379"/>
            <a:ext cx="3372307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t="-1554" b="-1554"/>
          <a:stretch/>
        </p:blipFill>
        <p:spPr>
          <a:xfrm>
            <a:off x="923544" y="3181679"/>
            <a:ext cx="161849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200607" y="3144189"/>
            <a:ext cx="30202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 Selector: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Library of pre-set default JDs for quick starts.</a:t>
            </a:r>
            <a:endParaRPr lang="en-US" sz="1100" dirty="0"/>
          </a:p>
        </p:txBody>
      </p:sp>
      <p:sp>
        <p:nvSpPr>
          <p:cNvPr id="19" name="Shape 12"/>
          <p:cNvSpPr/>
          <p:nvPr/>
        </p:nvSpPr>
        <p:spPr>
          <a:xfrm>
            <a:off x="847649" y="3807129"/>
            <a:ext cx="3372307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rcRect t="-1554" b="-1554"/>
          <a:stretch/>
        </p:blipFill>
        <p:spPr>
          <a:xfrm>
            <a:off x="923544" y="3921429"/>
            <a:ext cx="161849" cy="133502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1200607" y="3883024"/>
            <a:ext cx="30202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Assistant: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Context-aware side panel for querying candidate data.</a:t>
            </a:r>
            <a:endParaRPr lang="en-US" sz="1100" dirty="0"/>
          </a:p>
        </p:txBody>
      </p:sp>
      <p:sp>
        <p:nvSpPr>
          <p:cNvPr id="22" name="Shape 14"/>
          <p:cNvSpPr/>
          <p:nvPr/>
        </p:nvSpPr>
        <p:spPr>
          <a:xfrm>
            <a:off x="847649" y="4545964"/>
            <a:ext cx="3372307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3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923544" y="4660264"/>
            <a:ext cx="133502" cy="13350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1171346" y="4621859"/>
            <a:ext cx="304861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Dashboard: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Ranked table with score breakdowns and export options.</a:t>
            </a:r>
            <a:endParaRPr lang="en-US" sz="1100" dirty="0"/>
          </a:p>
        </p:txBody>
      </p:sp>
      <p:sp>
        <p:nvSpPr>
          <p:cNvPr id="25" name="Shape 16"/>
          <p:cNvSpPr/>
          <p:nvPr/>
        </p:nvSpPr>
        <p:spPr>
          <a:xfrm>
            <a:off x="847649" y="5132095"/>
            <a:ext cx="3372307" cy="9144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17"/>
          <p:cNvSpPr/>
          <p:nvPr/>
        </p:nvSpPr>
        <p:spPr>
          <a:xfrm>
            <a:off x="847649" y="5293943"/>
            <a:ext cx="1647749" cy="571500"/>
          </a:xfrm>
          <a:prstGeom prst="roundRect">
            <a:avLst>
              <a:gd name="adj" fmla="val 32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7" name="Image 7" descr="preencoded.png"/>
          <p:cNvPicPr>
            <a:picLocks noChangeAspect="1"/>
          </p:cNvPicPr>
          <p:nvPr/>
        </p:nvPicPr>
        <p:blipFill>
          <a:blip r:embed="rId10"/>
          <a:srcRect t="-1958" b="-1958"/>
          <a:stretch/>
        </p:blipFill>
        <p:spPr>
          <a:xfrm>
            <a:off x="1631290" y="5508827"/>
            <a:ext cx="75895" cy="105156"/>
          </a:xfrm>
          <a:prstGeom prst="rect">
            <a:avLst/>
          </a:prstGeom>
        </p:spPr>
      </p:pic>
      <p:sp>
        <p:nvSpPr>
          <p:cNvPr id="28" name="Shape 18"/>
          <p:cNvSpPr/>
          <p:nvPr/>
        </p:nvSpPr>
        <p:spPr>
          <a:xfrm>
            <a:off x="2567635" y="5293943"/>
            <a:ext cx="1647749" cy="571500"/>
          </a:xfrm>
          <a:prstGeom prst="roundRect">
            <a:avLst>
              <a:gd name="adj" fmla="val 32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9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3337560" y="5508827"/>
            <a:ext cx="105156" cy="105156"/>
          </a:xfrm>
          <a:prstGeom prst="rect">
            <a:avLst/>
          </a:prstGeom>
        </p:spPr>
      </p:pic>
      <p:sp>
        <p:nvSpPr>
          <p:cNvPr id="30" name="Shape 19"/>
          <p:cNvSpPr/>
          <p:nvPr/>
        </p:nvSpPr>
        <p:spPr>
          <a:xfrm>
            <a:off x="847649" y="5942253"/>
            <a:ext cx="1647749" cy="571500"/>
          </a:xfrm>
          <a:prstGeom prst="roundRect">
            <a:avLst>
              <a:gd name="adj" fmla="val 32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1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1617574" y="6156223"/>
            <a:ext cx="105156" cy="105156"/>
          </a:xfrm>
          <a:prstGeom prst="rect">
            <a:avLst/>
          </a:prstGeom>
        </p:spPr>
      </p:pic>
      <p:sp>
        <p:nvSpPr>
          <p:cNvPr id="32" name="Shape 20"/>
          <p:cNvSpPr/>
          <p:nvPr/>
        </p:nvSpPr>
        <p:spPr>
          <a:xfrm>
            <a:off x="2567635" y="5942253"/>
            <a:ext cx="1647749" cy="571500"/>
          </a:xfrm>
          <a:prstGeom prst="roundRect">
            <a:avLst>
              <a:gd name="adj" fmla="val 32000"/>
            </a:avLst>
          </a:prstGeom>
          <a:solidFill>
            <a:srgbClr val="0F172A">
              <a:alpha val="6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3" name="Image 10" descr="preencoded.png"/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3337560" y="6156223"/>
            <a:ext cx="105156" cy="105156"/>
          </a:xfrm>
          <a:prstGeom prst="rect">
            <a:avLst/>
          </a:prstGeom>
        </p:spPr>
      </p:pic>
      <p:sp>
        <p:nvSpPr>
          <p:cNvPr id="34" name="Shape 21"/>
          <p:cNvSpPr/>
          <p:nvPr/>
        </p:nvSpPr>
        <p:spPr>
          <a:xfrm>
            <a:off x="4640580" y="1519300"/>
            <a:ext cx="3381451" cy="2523744"/>
          </a:xfrm>
          <a:prstGeom prst="roundRect">
            <a:avLst>
              <a:gd name="adj" fmla="val 4375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Shape 22"/>
          <p:cNvSpPr/>
          <p:nvPr/>
        </p:nvSpPr>
        <p:spPr>
          <a:xfrm>
            <a:off x="4878324" y="175704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6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983480" y="1862200"/>
            <a:ext cx="171907" cy="171907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5373929" y="1804593"/>
            <a:ext cx="142829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UX Principles</a:t>
            </a:r>
            <a:endParaRPr lang="en-US" sz="1500" dirty="0"/>
          </a:p>
        </p:txBody>
      </p:sp>
      <p:sp>
        <p:nvSpPr>
          <p:cNvPr id="38" name="Shape 24"/>
          <p:cNvSpPr/>
          <p:nvPr/>
        </p:nvSpPr>
        <p:spPr>
          <a:xfrm>
            <a:off x="4878324" y="2328544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9" name="Image 12" descr="preencoded.png"/>
          <p:cNvPicPr>
            <a:picLocks noChangeAspect="1"/>
          </p:cNvPicPr>
          <p:nvPr/>
        </p:nvPicPr>
        <p:blipFill>
          <a:blip r:embed="rId15"/>
          <a:srcRect t="-2644" b="-2644"/>
          <a:stretch/>
        </p:blipFill>
        <p:spPr>
          <a:xfrm>
            <a:off x="4955134" y="2442844"/>
            <a:ext cx="142646" cy="133502"/>
          </a:xfrm>
          <a:prstGeom prst="rect">
            <a:avLst/>
          </a:prstGeom>
        </p:spPr>
      </p:pic>
      <p:sp>
        <p:nvSpPr>
          <p:cNvPr id="40" name="Text 25"/>
          <p:cNvSpPr txBox="1"/>
          <p:nvPr/>
        </p:nvSpPr>
        <p:spPr>
          <a:xfrm>
            <a:off x="5212080" y="2404439"/>
            <a:ext cx="25722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Hierarchy: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Visual emphasis on critical ranking scores.</a:t>
            </a:r>
            <a:endParaRPr lang="en-US" sz="1100" dirty="0"/>
          </a:p>
        </p:txBody>
      </p:sp>
      <p:sp>
        <p:nvSpPr>
          <p:cNvPr id="41" name="Shape 26"/>
          <p:cNvSpPr/>
          <p:nvPr/>
        </p:nvSpPr>
        <p:spPr>
          <a:xfrm>
            <a:off x="4878324" y="3067379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2" name="Image 13" descr="preencoded.png"/>
          <p:cNvPicPr>
            <a:picLocks noChangeAspect="1"/>
          </p:cNvPicPr>
          <p:nvPr/>
        </p:nvPicPr>
        <p:blipFill>
          <a:blip r:embed="rId16"/>
          <a:srcRect t="-1100" b="-1100"/>
          <a:stretch/>
        </p:blipFill>
        <p:spPr>
          <a:xfrm>
            <a:off x="4955134" y="3181679"/>
            <a:ext cx="114300" cy="133502"/>
          </a:xfrm>
          <a:prstGeom prst="rect">
            <a:avLst/>
          </a:prstGeom>
        </p:spPr>
      </p:pic>
      <p:sp>
        <p:nvSpPr>
          <p:cNvPr id="43" name="Text 27"/>
          <p:cNvSpPr txBox="1"/>
          <p:nvPr/>
        </p:nvSpPr>
        <p:spPr>
          <a:xfrm>
            <a:off x="5183734" y="3144189"/>
            <a:ext cx="2600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Visuals: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Fluent Design System consistency.</a:t>
            </a:r>
            <a:endParaRPr lang="en-US" sz="1100" dirty="0"/>
          </a:p>
        </p:txBody>
      </p:sp>
      <p:sp>
        <p:nvSpPr>
          <p:cNvPr id="44" name="Shape 28"/>
          <p:cNvSpPr/>
          <p:nvPr/>
        </p:nvSpPr>
        <p:spPr>
          <a:xfrm>
            <a:off x="8206740" y="1519300"/>
            <a:ext cx="3381451" cy="2523744"/>
          </a:xfrm>
          <a:prstGeom prst="roundRect">
            <a:avLst>
              <a:gd name="adj" fmla="val 4375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Shape 29"/>
          <p:cNvSpPr/>
          <p:nvPr/>
        </p:nvSpPr>
        <p:spPr>
          <a:xfrm>
            <a:off x="8444484" y="1757044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818CF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6" name="Image 14" descr="preencoded.png"/>
          <p:cNvPicPr>
            <a:picLocks noChangeAspect="1"/>
          </p:cNvPicPr>
          <p:nvPr/>
        </p:nvPicPr>
        <p:blipFill>
          <a:blip r:embed="rId17"/>
          <a:srcRect t="-1087" b="-1087"/>
          <a:stretch/>
        </p:blipFill>
        <p:spPr>
          <a:xfrm>
            <a:off x="8582558" y="1862200"/>
            <a:ext cx="105156" cy="171907"/>
          </a:xfrm>
          <a:prstGeom prst="rect">
            <a:avLst/>
          </a:prstGeom>
        </p:spPr>
      </p:pic>
      <p:sp>
        <p:nvSpPr>
          <p:cNvPr id="47" name="Text 30"/>
          <p:cNvSpPr txBox="1"/>
          <p:nvPr/>
        </p:nvSpPr>
        <p:spPr>
          <a:xfrm>
            <a:off x="8940089" y="1804593"/>
            <a:ext cx="133776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Interactions</a:t>
            </a:r>
            <a:endParaRPr lang="en-US" sz="1500" dirty="0"/>
          </a:p>
        </p:txBody>
      </p:sp>
      <p:sp>
        <p:nvSpPr>
          <p:cNvPr id="48" name="Shape 31"/>
          <p:cNvSpPr/>
          <p:nvPr/>
        </p:nvSpPr>
        <p:spPr>
          <a:xfrm>
            <a:off x="8444484" y="2328544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9" name="Image 1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8521294" y="2442844"/>
            <a:ext cx="133502" cy="133502"/>
          </a:xfrm>
          <a:prstGeom prst="rect">
            <a:avLst/>
          </a:prstGeom>
        </p:spPr>
      </p:pic>
      <p:sp>
        <p:nvSpPr>
          <p:cNvPr id="50" name="Text 32"/>
          <p:cNvSpPr txBox="1"/>
          <p:nvPr/>
        </p:nvSpPr>
        <p:spPr>
          <a:xfrm>
            <a:off x="8769096" y="2404439"/>
            <a:ext cx="25813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Real-time progress indicators for parsing.</a:t>
            </a:r>
            <a:endParaRPr lang="en-US" sz="1100" dirty="0"/>
          </a:p>
        </p:txBody>
      </p:sp>
      <p:sp>
        <p:nvSpPr>
          <p:cNvPr id="51" name="Shape 33"/>
          <p:cNvSpPr/>
          <p:nvPr/>
        </p:nvSpPr>
        <p:spPr>
          <a:xfrm>
            <a:off x="8444484" y="3067379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2" name="Image 16" descr="preencoded.png"/>
          <p:cNvPicPr>
            <a:picLocks noChangeAspect="1"/>
          </p:cNvPicPr>
          <p:nvPr/>
        </p:nvPicPr>
        <p:blipFill>
          <a:blip r:embed="rId19"/>
          <a:srcRect t="-1100" b="-1100"/>
          <a:stretch/>
        </p:blipFill>
        <p:spPr>
          <a:xfrm>
            <a:off x="8521294" y="3181679"/>
            <a:ext cx="114300" cy="133502"/>
          </a:xfrm>
          <a:prstGeom prst="rect">
            <a:avLst/>
          </a:prstGeom>
        </p:spPr>
      </p:pic>
      <p:sp>
        <p:nvSpPr>
          <p:cNvPr id="53" name="Text 34"/>
          <p:cNvSpPr txBox="1"/>
          <p:nvPr/>
        </p:nvSpPr>
        <p:spPr>
          <a:xfrm>
            <a:off x="8749894" y="3144189"/>
            <a:ext cx="260055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Citations: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Inline tooltips showing source text evidence.</a:t>
            </a:r>
            <a:endParaRPr lang="en-US" sz="1100" dirty="0"/>
          </a:p>
        </p:txBody>
      </p:sp>
      <p:sp>
        <p:nvSpPr>
          <p:cNvPr id="54" name="Shape 35"/>
          <p:cNvSpPr/>
          <p:nvPr/>
        </p:nvSpPr>
        <p:spPr>
          <a:xfrm>
            <a:off x="4640580" y="4230496"/>
            <a:ext cx="3381451" cy="2523744"/>
          </a:xfrm>
          <a:prstGeom prst="roundRect">
            <a:avLst>
              <a:gd name="adj" fmla="val 4375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5" name="Shape 36"/>
          <p:cNvSpPr/>
          <p:nvPr/>
        </p:nvSpPr>
        <p:spPr>
          <a:xfrm>
            <a:off x="4878324" y="4468240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6" name="Image 17" descr="preencoded.png"/>
          <p:cNvPicPr>
            <a:picLocks noChangeAspect="1"/>
          </p:cNvPicPr>
          <p:nvPr/>
        </p:nvPicPr>
        <p:blipFill>
          <a:blip r:embed="rId20"/>
          <a:srcRect/>
          <a:stretch/>
        </p:blipFill>
        <p:spPr>
          <a:xfrm>
            <a:off x="4983480" y="4573396"/>
            <a:ext cx="171907" cy="171907"/>
          </a:xfrm>
          <a:prstGeom prst="rect">
            <a:avLst/>
          </a:prstGeom>
        </p:spPr>
      </p:pic>
      <p:sp>
        <p:nvSpPr>
          <p:cNvPr id="57" name="Text 37"/>
          <p:cNvSpPr txBox="1"/>
          <p:nvPr/>
        </p:nvSpPr>
        <p:spPr>
          <a:xfrm>
            <a:off x="5373929" y="4516703"/>
            <a:ext cx="140634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Accessibility</a:t>
            </a:r>
            <a:endParaRPr lang="en-US" sz="1500" dirty="0"/>
          </a:p>
        </p:txBody>
      </p:sp>
      <p:sp>
        <p:nvSpPr>
          <p:cNvPr id="58" name="Shape 38"/>
          <p:cNvSpPr/>
          <p:nvPr/>
        </p:nvSpPr>
        <p:spPr>
          <a:xfrm>
            <a:off x="4878324" y="5039740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9" name="Image 18" descr="preencoded.png"/>
          <p:cNvPicPr>
            <a:picLocks noChangeAspect="1"/>
          </p:cNvPicPr>
          <p:nvPr/>
        </p:nvPicPr>
        <p:blipFill>
          <a:blip r:embed="rId21"/>
          <a:srcRect/>
          <a:stretch/>
        </p:blipFill>
        <p:spPr>
          <a:xfrm>
            <a:off x="4955134" y="5154040"/>
            <a:ext cx="133502" cy="133502"/>
          </a:xfrm>
          <a:prstGeom prst="rect">
            <a:avLst/>
          </a:prstGeom>
        </p:spPr>
      </p:pic>
      <p:sp>
        <p:nvSpPr>
          <p:cNvPr id="60" name="Text 39"/>
          <p:cNvSpPr txBox="1"/>
          <p:nvPr/>
        </p:nvSpPr>
        <p:spPr>
          <a:xfrm>
            <a:off x="5202022" y="5116550"/>
            <a:ext cx="25813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Contrast 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High contrast text &amp; focus states.</a:t>
            </a:r>
            <a:endParaRPr lang="en-US" sz="1100" dirty="0"/>
          </a:p>
        </p:txBody>
      </p:sp>
      <p:sp>
        <p:nvSpPr>
          <p:cNvPr id="61" name="Shape 40"/>
          <p:cNvSpPr/>
          <p:nvPr/>
        </p:nvSpPr>
        <p:spPr>
          <a:xfrm>
            <a:off x="4878324" y="5779490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2" name="Image 19" descr="preencoded.png"/>
          <p:cNvPicPr>
            <a:picLocks noChangeAspect="1"/>
          </p:cNvPicPr>
          <p:nvPr/>
        </p:nvPicPr>
        <p:blipFill>
          <a:blip r:embed="rId22"/>
          <a:srcRect t="-2644" b="-2644"/>
          <a:stretch/>
        </p:blipFill>
        <p:spPr>
          <a:xfrm>
            <a:off x="4955134" y="5893790"/>
            <a:ext cx="142646" cy="133502"/>
          </a:xfrm>
          <a:prstGeom prst="rect">
            <a:avLst/>
          </a:prstGeom>
        </p:spPr>
      </p:pic>
      <p:sp>
        <p:nvSpPr>
          <p:cNvPr id="63" name="Text 41"/>
          <p:cNvSpPr txBox="1"/>
          <p:nvPr/>
        </p:nvSpPr>
        <p:spPr>
          <a:xfrm>
            <a:off x="5212080" y="5855385"/>
            <a:ext cx="25722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Nav: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Full keyboard support for all workflows.</a:t>
            </a:r>
            <a:endParaRPr lang="en-US" sz="1100" dirty="0"/>
          </a:p>
        </p:txBody>
      </p:sp>
      <p:sp>
        <p:nvSpPr>
          <p:cNvPr id="64" name="Shape 42"/>
          <p:cNvSpPr/>
          <p:nvPr/>
        </p:nvSpPr>
        <p:spPr>
          <a:xfrm>
            <a:off x="8206740" y="4230496"/>
            <a:ext cx="3381451" cy="2523744"/>
          </a:xfrm>
          <a:prstGeom prst="roundRect">
            <a:avLst>
              <a:gd name="adj" fmla="val 4375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5" name="Shape 43"/>
          <p:cNvSpPr/>
          <p:nvPr/>
        </p:nvSpPr>
        <p:spPr>
          <a:xfrm>
            <a:off x="8444484" y="4468240"/>
            <a:ext cx="381305" cy="381305"/>
          </a:xfrm>
          <a:prstGeom prst="roundRect">
            <a:avLst>
              <a:gd name="adj" fmla="val 119904"/>
            </a:avLst>
          </a:prstGeom>
          <a:solidFill>
            <a:srgbClr val="FBBF2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6" name="Image 20" descr="preencoded.png"/>
          <p:cNvPicPr>
            <a:picLocks noChangeAspect="1"/>
          </p:cNvPicPr>
          <p:nvPr/>
        </p:nvPicPr>
        <p:blipFill>
          <a:blip r:embed="rId23"/>
          <a:srcRect t="-2725" b="-2725"/>
          <a:stretch/>
        </p:blipFill>
        <p:spPr>
          <a:xfrm>
            <a:off x="8564270" y="4573396"/>
            <a:ext cx="142646" cy="171907"/>
          </a:xfrm>
          <a:prstGeom prst="rect">
            <a:avLst/>
          </a:prstGeom>
        </p:spPr>
      </p:pic>
      <p:sp>
        <p:nvSpPr>
          <p:cNvPr id="67" name="Text 44"/>
          <p:cNvSpPr txBox="1"/>
          <p:nvPr/>
        </p:nvSpPr>
        <p:spPr>
          <a:xfrm>
            <a:off x="8940089" y="4516703"/>
            <a:ext cx="134691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Performance</a:t>
            </a:r>
            <a:endParaRPr lang="en-US" sz="1500" dirty="0"/>
          </a:p>
        </p:txBody>
      </p:sp>
      <p:sp>
        <p:nvSpPr>
          <p:cNvPr id="68" name="Shape 45"/>
          <p:cNvSpPr/>
          <p:nvPr/>
        </p:nvSpPr>
        <p:spPr>
          <a:xfrm>
            <a:off x="8444484" y="5039740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9" name="Image 21" descr="preencoded.png"/>
          <p:cNvPicPr>
            <a:picLocks noChangeAspect="1"/>
          </p:cNvPicPr>
          <p:nvPr/>
        </p:nvPicPr>
        <p:blipFill>
          <a:blip r:embed="rId24"/>
          <a:srcRect/>
          <a:stretch/>
        </p:blipFill>
        <p:spPr>
          <a:xfrm>
            <a:off x="8521294" y="5154040"/>
            <a:ext cx="133502" cy="133502"/>
          </a:xfrm>
          <a:prstGeom prst="rect">
            <a:avLst/>
          </a:prstGeom>
        </p:spPr>
      </p:pic>
      <p:sp>
        <p:nvSpPr>
          <p:cNvPr id="70" name="Text 46"/>
          <p:cNvSpPr txBox="1"/>
          <p:nvPr/>
        </p:nvSpPr>
        <p:spPr>
          <a:xfrm>
            <a:off x="8769096" y="5116550"/>
            <a:ext cx="25813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Streaming: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Token streaming for faster perceived load.</a:t>
            </a:r>
            <a:endParaRPr lang="en-US" sz="1100" dirty="0"/>
          </a:p>
        </p:txBody>
      </p:sp>
      <p:sp>
        <p:nvSpPr>
          <p:cNvPr id="71" name="Shape 47"/>
          <p:cNvSpPr/>
          <p:nvPr/>
        </p:nvSpPr>
        <p:spPr>
          <a:xfrm>
            <a:off x="8444484" y="5779490"/>
            <a:ext cx="2905049" cy="590702"/>
          </a:xfrm>
          <a:prstGeom prst="roundRect">
            <a:avLst>
              <a:gd name="adj" fmla="val 39948"/>
            </a:avLst>
          </a:prstGeom>
          <a:solidFill>
            <a:srgbClr val="FFFFFF">
              <a:alpha val="3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72" name="Image 22" descr="preencoded.png"/>
          <p:cNvPicPr>
            <a:picLocks noChangeAspect="1"/>
          </p:cNvPicPr>
          <p:nvPr/>
        </p:nvPicPr>
        <p:blipFill>
          <a:blip r:embed="rId25"/>
          <a:srcRect/>
          <a:stretch/>
        </p:blipFill>
        <p:spPr>
          <a:xfrm>
            <a:off x="8521294" y="5893790"/>
            <a:ext cx="133502" cy="133502"/>
          </a:xfrm>
          <a:prstGeom prst="rect">
            <a:avLst/>
          </a:prstGeom>
        </p:spPr>
      </p:pic>
      <p:sp>
        <p:nvSpPr>
          <p:cNvPr id="73" name="Text 48"/>
          <p:cNvSpPr txBox="1"/>
          <p:nvPr/>
        </p:nvSpPr>
        <p:spPr>
          <a:xfrm>
            <a:off x="8769096" y="5855385"/>
            <a:ext cx="25813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Optimistic UI:</a:t>
            </a:r>
            <a:r>
              <a:rPr lang="en-US" sz="11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Instant state updates before server ack.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952805" y="1371600"/>
            <a:ext cx="4762195" cy="476219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429500" y="2095805"/>
            <a:ext cx="5715000" cy="5715000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761695" y="1680667"/>
            <a:ext cx="5162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60" dirty="0">
                <a:solidFill>
                  <a:srgbClr val="FDA4A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Challenge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6267298" y="1680667"/>
            <a:ext cx="51627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kern="0" spc="60" dirty="0">
                <a:solidFill>
                  <a:srgbClr val="6EE7B7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7" name="Shape 3"/>
          <p:cNvSpPr/>
          <p:nvPr/>
        </p:nvSpPr>
        <p:spPr>
          <a:xfrm>
            <a:off x="609905" y="1452067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F43F5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8" name="Text 4"/>
          <p:cNvSpPr txBox="1"/>
          <p:nvPr/>
        </p:nvSpPr>
        <p:spPr>
          <a:xfrm>
            <a:off x="609905" y="457200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Implementation Challenges &amp; Solutions</a:t>
            </a:r>
            <a:endParaRPr lang="en-US" sz="3300" dirty="0"/>
          </a:p>
        </p:txBody>
      </p:sp>
      <p:sp>
        <p:nvSpPr>
          <p:cNvPr id="9" name="Text 5"/>
          <p:cNvSpPr txBox="1"/>
          <p:nvPr/>
        </p:nvSpPr>
        <p:spPr>
          <a:xfrm>
            <a:off x="609905" y="1123798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Overcoming technical hurdles to build a robust recruitment platform</a:t>
            </a:r>
            <a:endParaRPr lang="en-US" sz="130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rcRect t="-2061" b="-2061"/>
          <a:stretch/>
        </p:blipFill>
        <p:spPr>
          <a:xfrm>
            <a:off x="6090818" y="2137867"/>
            <a:ext cx="9144" cy="761695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rcRect l="-23" r="-23"/>
          <a:stretch/>
        </p:blipFill>
        <p:spPr>
          <a:xfrm>
            <a:off x="609905" y="2137867"/>
            <a:ext cx="5296205" cy="76169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809244" y="23280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rcRect t="-2222" b="-2222"/>
          <a:stretch/>
        </p:blipFill>
        <p:spPr>
          <a:xfrm>
            <a:off x="938174" y="2432304"/>
            <a:ext cx="123444" cy="171907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1343254" y="2328062"/>
            <a:ext cx="379110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D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CV Variability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1343254" y="2550262"/>
            <a:ext cx="434248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formats, layouts, and structures across candidates.</a:t>
            </a:r>
            <a:endParaRPr lang="en-US" sz="9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8"/>
          <a:srcRect l="-23" r="-23"/>
          <a:stretch/>
        </p:blipFill>
        <p:spPr>
          <a:xfrm>
            <a:off x="6286500" y="2137867"/>
            <a:ext cx="5296205" cy="761695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10634472" y="23280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8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738714" y="2432304"/>
            <a:ext cx="171907" cy="171907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6362395" y="2328062"/>
            <a:ext cx="41248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1FA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Robust Parsing Pipeline</a:t>
            </a:r>
            <a:endParaRPr lang="en-US" sz="1200" dirty="0"/>
          </a:p>
        </p:txBody>
      </p:sp>
      <p:sp>
        <p:nvSpPr>
          <p:cNvPr id="20" name="Text 11"/>
          <p:cNvSpPr txBox="1"/>
          <p:nvPr/>
        </p:nvSpPr>
        <p:spPr>
          <a:xfrm>
            <a:off x="5790895" y="2550262"/>
            <a:ext cx="4696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PyMuPDF extraction with layout heuristics &amp; normalization.</a:t>
            </a:r>
            <a:endParaRPr lang="en-US" sz="900" dirty="0"/>
          </a:p>
        </p:txBody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6"/>
          <a:srcRect l="-23" r="-23"/>
          <a:stretch/>
        </p:blipFill>
        <p:spPr>
          <a:xfrm>
            <a:off x="609905" y="3052267"/>
            <a:ext cx="5296205" cy="761695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809244" y="32424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0"/>
          <a:srcRect t="-2222" b="-2222"/>
          <a:stretch/>
        </p:blipFill>
        <p:spPr>
          <a:xfrm>
            <a:off x="938174" y="3346704"/>
            <a:ext cx="123444" cy="171907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1343254" y="3242462"/>
            <a:ext cx="355335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D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Long Documents</a:t>
            </a:r>
            <a:endParaRPr lang="en-US" sz="1200" dirty="0"/>
          </a:p>
        </p:txBody>
      </p:sp>
      <p:sp>
        <p:nvSpPr>
          <p:cNvPr id="25" name="Text 14"/>
          <p:cNvSpPr txBox="1"/>
          <p:nvPr/>
        </p:nvSpPr>
        <p:spPr>
          <a:xfrm>
            <a:off x="1343254" y="3464662"/>
            <a:ext cx="406908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CVs exceeding token limits for single-pass LLM processing.</a:t>
            </a:r>
            <a:endParaRPr lang="en-US" sz="900" dirty="0"/>
          </a:p>
        </p:txBody>
      </p:sp>
      <p:pic>
        <p:nvPicPr>
          <p:cNvPr id="26" name="Image 9" descr="preencoded.png"/>
          <p:cNvPicPr>
            <a:picLocks noChangeAspect="1"/>
          </p:cNvPicPr>
          <p:nvPr/>
        </p:nvPicPr>
        <p:blipFill>
          <a:blip r:embed="rId8"/>
          <a:srcRect l="-23" r="-23"/>
          <a:stretch/>
        </p:blipFill>
        <p:spPr>
          <a:xfrm>
            <a:off x="6286500" y="3052267"/>
            <a:ext cx="5296205" cy="761695"/>
          </a:xfrm>
          <a:prstGeom prst="rect">
            <a:avLst/>
          </a:prstGeom>
        </p:spPr>
      </p:pic>
      <p:sp>
        <p:nvSpPr>
          <p:cNvPr id="27" name="Shape 15"/>
          <p:cNvSpPr/>
          <p:nvPr/>
        </p:nvSpPr>
        <p:spPr>
          <a:xfrm>
            <a:off x="10328148" y="32424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8" name="Image 10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10432390" y="3346704"/>
            <a:ext cx="171907" cy="171907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6362395" y="3242462"/>
            <a:ext cx="382036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1FA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Smart Chunking</a:t>
            </a:r>
            <a:endParaRPr lang="en-US" sz="1200" dirty="0"/>
          </a:p>
        </p:txBody>
      </p:sp>
      <p:sp>
        <p:nvSpPr>
          <p:cNvPr id="30" name="Text 17"/>
          <p:cNvSpPr txBox="1"/>
          <p:nvPr/>
        </p:nvSpPr>
        <p:spPr>
          <a:xfrm>
            <a:off x="5807354" y="3464662"/>
            <a:ext cx="437540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Hierarchical retrieval and map-reduce summarization strategies.</a:t>
            </a:r>
            <a:endParaRPr lang="en-US" sz="900" dirty="0"/>
          </a:p>
        </p:txBody>
      </p:sp>
      <p:pic>
        <p:nvPicPr>
          <p:cNvPr id="31" name="Image 11" descr="preencoded.png"/>
          <p:cNvPicPr>
            <a:picLocks noChangeAspect="1"/>
          </p:cNvPicPr>
          <p:nvPr/>
        </p:nvPicPr>
        <p:blipFill>
          <a:blip r:embed="rId6"/>
          <a:srcRect l="-23" r="-23"/>
          <a:stretch/>
        </p:blipFill>
        <p:spPr>
          <a:xfrm>
            <a:off x="609905" y="3966667"/>
            <a:ext cx="5296205" cy="761695"/>
          </a:xfrm>
          <a:prstGeom prst="rect">
            <a:avLst/>
          </a:prstGeom>
        </p:spPr>
      </p:pic>
      <p:sp>
        <p:nvSpPr>
          <p:cNvPr id="32" name="Shape 18"/>
          <p:cNvSpPr/>
          <p:nvPr/>
        </p:nvSpPr>
        <p:spPr>
          <a:xfrm>
            <a:off x="809244" y="41568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3" name="Image 12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914400" y="4261104"/>
            <a:ext cx="171907" cy="171907"/>
          </a:xfrm>
          <a:prstGeom prst="rect">
            <a:avLst/>
          </a:prstGeom>
        </p:spPr>
      </p:pic>
      <p:sp>
        <p:nvSpPr>
          <p:cNvPr id="34" name="Text 19"/>
          <p:cNvSpPr txBox="1"/>
          <p:nvPr/>
        </p:nvSpPr>
        <p:spPr>
          <a:xfrm>
            <a:off x="1343254" y="4156862"/>
            <a:ext cx="36100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D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Hallucinations</a:t>
            </a:r>
            <a:endParaRPr lang="en-US" sz="1200" dirty="0"/>
          </a:p>
        </p:txBody>
      </p:sp>
      <p:sp>
        <p:nvSpPr>
          <p:cNvPr id="35" name="Text 20"/>
          <p:cNvSpPr txBox="1"/>
          <p:nvPr/>
        </p:nvSpPr>
        <p:spPr>
          <a:xfrm>
            <a:off x="1343254" y="4379062"/>
            <a:ext cx="41349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Risk of AI inventing skills or qualifications not present in text.</a:t>
            </a:r>
            <a:endParaRPr lang="en-US" sz="900" dirty="0"/>
          </a:p>
        </p:txBody>
      </p:sp>
      <p:pic>
        <p:nvPicPr>
          <p:cNvPr id="36" name="Image 13" descr="preencoded.png"/>
          <p:cNvPicPr>
            <a:picLocks noChangeAspect="1"/>
          </p:cNvPicPr>
          <p:nvPr/>
        </p:nvPicPr>
        <p:blipFill>
          <a:blip r:embed="rId8"/>
          <a:srcRect l="-23" r="-23"/>
          <a:stretch/>
        </p:blipFill>
        <p:spPr>
          <a:xfrm>
            <a:off x="6286500" y="3966667"/>
            <a:ext cx="5296205" cy="761695"/>
          </a:xfrm>
          <a:prstGeom prst="rect">
            <a:avLst/>
          </a:prstGeom>
        </p:spPr>
      </p:pic>
      <p:sp>
        <p:nvSpPr>
          <p:cNvPr id="37" name="Shape 21"/>
          <p:cNvSpPr/>
          <p:nvPr/>
        </p:nvSpPr>
        <p:spPr>
          <a:xfrm>
            <a:off x="10685678" y="41568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8" name="Image 14" descr="preencoded.png"/>
          <p:cNvPicPr>
            <a:picLocks noChangeAspect="1"/>
          </p:cNvPicPr>
          <p:nvPr/>
        </p:nvPicPr>
        <p:blipFill>
          <a:blip r:embed="rId13"/>
          <a:srcRect t="-842" b="-842"/>
          <a:stretch/>
        </p:blipFill>
        <p:spPr>
          <a:xfrm>
            <a:off x="10781690" y="4261104"/>
            <a:ext cx="190195" cy="171907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6362395" y="4156862"/>
            <a:ext cx="41724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1FA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Strict RAG-Only</a:t>
            </a:r>
            <a:endParaRPr lang="en-US" sz="1200" dirty="0"/>
          </a:p>
        </p:txBody>
      </p:sp>
      <p:sp>
        <p:nvSpPr>
          <p:cNvPr id="40" name="Text 23"/>
          <p:cNvSpPr txBox="1"/>
          <p:nvPr/>
        </p:nvSpPr>
        <p:spPr>
          <a:xfrm>
            <a:off x="5790895" y="4379062"/>
            <a:ext cx="4743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Grounded answering enforced by citations and confidence thresholds.</a:t>
            </a:r>
            <a:endParaRPr lang="en-US" sz="900" dirty="0"/>
          </a:p>
        </p:txBody>
      </p:sp>
      <p:pic>
        <p:nvPicPr>
          <p:cNvPr id="41" name="Image 15" descr="preencoded.png"/>
          <p:cNvPicPr>
            <a:picLocks noChangeAspect="1"/>
          </p:cNvPicPr>
          <p:nvPr/>
        </p:nvPicPr>
        <p:blipFill>
          <a:blip r:embed="rId6"/>
          <a:srcRect l="-23" r="-23"/>
          <a:stretch/>
        </p:blipFill>
        <p:spPr>
          <a:xfrm>
            <a:off x="609905" y="4881067"/>
            <a:ext cx="5296205" cy="761695"/>
          </a:xfrm>
          <a:prstGeom prst="rect">
            <a:avLst/>
          </a:prstGeom>
        </p:spPr>
      </p:pic>
      <p:sp>
        <p:nvSpPr>
          <p:cNvPr id="42" name="Shape 24"/>
          <p:cNvSpPr/>
          <p:nvPr/>
        </p:nvSpPr>
        <p:spPr>
          <a:xfrm>
            <a:off x="809244" y="50712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3" name="Image 16" descr="preencoded.png"/>
          <p:cNvPicPr>
            <a:picLocks noChangeAspect="1"/>
          </p:cNvPicPr>
          <p:nvPr/>
        </p:nvPicPr>
        <p:blipFill>
          <a:blip r:embed="rId14"/>
          <a:srcRect t="-2222" b="-2222"/>
          <a:stretch/>
        </p:blipFill>
        <p:spPr>
          <a:xfrm>
            <a:off x="938174" y="5175504"/>
            <a:ext cx="123444" cy="171907"/>
          </a:xfrm>
          <a:prstGeom prst="rect">
            <a:avLst/>
          </a:prstGeom>
        </p:spPr>
      </p:pic>
      <p:sp>
        <p:nvSpPr>
          <p:cNvPr id="44" name="Text 25"/>
          <p:cNvSpPr txBox="1"/>
          <p:nvPr/>
        </p:nvSpPr>
        <p:spPr>
          <a:xfrm>
            <a:off x="1343254" y="5071262"/>
            <a:ext cx="405810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D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Latency</a:t>
            </a:r>
            <a:endParaRPr lang="en-US" sz="1200" dirty="0"/>
          </a:p>
        </p:txBody>
      </p:sp>
      <p:sp>
        <p:nvSpPr>
          <p:cNvPr id="45" name="Text 26"/>
          <p:cNvSpPr txBox="1"/>
          <p:nvPr/>
        </p:nvSpPr>
        <p:spPr>
          <a:xfrm>
            <a:off x="1343254" y="5293462"/>
            <a:ext cx="4629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response times during heavy document embedding processes.</a:t>
            </a:r>
            <a:endParaRPr lang="en-US" sz="900" dirty="0"/>
          </a:p>
        </p:txBody>
      </p:sp>
      <p:pic>
        <p:nvPicPr>
          <p:cNvPr id="46" name="Image 17" descr="preencoded.png"/>
          <p:cNvPicPr>
            <a:picLocks noChangeAspect="1"/>
          </p:cNvPicPr>
          <p:nvPr/>
        </p:nvPicPr>
        <p:blipFill>
          <a:blip r:embed="rId8"/>
          <a:srcRect l="-23" r="-23"/>
          <a:stretch/>
        </p:blipFill>
        <p:spPr>
          <a:xfrm>
            <a:off x="6286500" y="4881067"/>
            <a:ext cx="5296205" cy="761695"/>
          </a:xfrm>
          <a:prstGeom prst="rect">
            <a:avLst/>
          </a:prstGeom>
        </p:spPr>
      </p:pic>
      <p:sp>
        <p:nvSpPr>
          <p:cNvPr id="47" name="Shape 27"/>
          <p:cNvSpPr/>
          <p:nvPr/>
        </p:nvSpPr>
        <p:spPr>
          <a:xfrm>
            <a:off x="10306202" y="50712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8" name="Image 18" descr="preencoded.png"/>
          <p:cNvPicPr>
            <a:picLocks noChangeAspect="1"/>
          </p:cNvPicPr>
          <p:nvPr/>
        </p:nvPicPr>
        <p:blipFill>
          <a:blip r:embed="rId15"/>
          <a:srcRect t="-2725" b="-2725"/>
          <a:stretch/>
        </p:blipFill>
        <p:spPr>
          <a:xfrm>
            <a:off x="10425989" y="5175504"/>
            <a:ext cx="142646" cy="171907"/>
          </a:xfrm>
          <a:prstGeom prst="rect">
            <a:avLst/>
          </a:prstGeom>
        </p:spPr>
      </p:pic>
      <p:sp>
        <p:nvSpPr>
          <p:cNvPr id="49" name="Text 28"/>
          <p:cNvSpPr txBox="1"/>
          <p:nvPr/>
        </p:nvSpPr>
        <p:spPr>
          <a:xfrm>
            <a:off x="6362395" y="5071262"/>
            <a:ext cx="380116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1FA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Async Processing</a:t>
            </a:r>
            <a:endParaRPr lang="en-US" sz="1200" dirty="0"/>
          </a:p>
        </p:txBody>
      </p:sp>
      <p:sp>
        <p:nvSpPr>
          <p:cNvPr id="50" name="Text 29"/>
          <p:cNvSpPr txBox="1"/>
          <p:nvPr/>
        </p:nvSpPr>
        <p:spPr>
          <a:xfrm>
            <a:off x="5810098" y="5293462"/>
            <a:ext cx="4353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Batch embeddings and streaming token responses for UI agility.</a:t>
            </a:r>
            <a:endParaRPr lang="en-US" sz="900" dirty="0"/>
          </a:p>
        </p:txBody>
      </p:sp>
      <p:pic>
        <p:nvPicPr>
          <p:cNvPr id="51" name="Image 19" descr="preencoded.png"/>
          <p:cNvPicPr>
            <a:picLocks noChangeAspect="1"/>
          </p:cNvPicPr>
          <p:nvPr/>
        </p:nvPicPr>
        <p:blipFill>
          <a:blip r:embed="rId6"/>
          <a:srcRect l="-23" r="-23"/>
          <a:stretch/>
        </p:blipFill>
        <p:spPr>
          <a:xfrm>
            <a:off x="609905" y="5795467"/>
            <a:ext cx="5296205" cy="761695"/>
          </a:xfrm>
          <a:prstGeom prst="rect">
            <a:avLst/>
          </a:prstGeom>
        </p:spPr>
      </p:pic>
      <p:sp>
        <p:nvSpPr>
          <p:cNvPr id="52" name="Shape 30"/>
          <p:cNvSpPr/>
          <p:nvPr/>
        </p:nvSpPr>
        <p:spPr>
          <a:xfrm>
            <a:off x="809244" y="59856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3" name="Image 20" descr="preencoded.png"/>
          <p:cNvPicPr>
            <a:picLocks noChangeAspect="1"/>
          </p:cNvPicPr>
          <p:nvPr/>
        </p:nvPicPr>
        <p:blipFill>
          <a:blip r:embed="rId16"/>
          <a:srcRect t="-1310" b="-1310"/>
          <a:stretch/>
        </p:blipFill>
        <p:spPr>
          <a:xfrm>
            <a:off x="895198" y="6089904"/>
            <a:ext cx="209398" cy="171907"/>
          </a:xfrm>
          <a:prstGeom prst="rect">
            <a:avLst/>
          </a:prstGeom>
        </p:spPr>
      </p:pic>
      <p:sp>
        <p:nvSpPr>
          <p:cNvPr id="54" name="Text 31"/>
          <p:cNvSpPr txBox="1"/>
          <p:nvPr/>
        </p:nvSpPr>
        <p:spPr>
          <a:xfrm>
            <a:off x="1343254" y="5985662"/>
            <a:ext cx="361005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ECDD3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Security / PII</a:t>
            </a:r>
            <a:endParaRPr lang="en-US" sz="1200" dirty="0"/>
          </a:p>
        </p:txBody>
      </p:sp>
      <p:sp>
        <p:nvSpPr>
          <p:cNvPr id="55" name="Text 32"/>
          <p:cNvSpPr txBox="1"/>
          <p:nvPr/>
        </p:nvSpPr>
        <p:spPr>
          <a:xfrm>
            <a:off x="1343254" y="6207862"/>
            <a:ext cx="413491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Handling sensitive personal data within a cloud environment.</a:t>
            </a:r>
            <a:endParaRPr lang="en-US" sz="900" dirty="0"/>
          </a:p>
        </p:txBody>
      </p:sp>
      <p:pic>
        <p:nvPicPr>
          <p:cNvPr id="56" name="Image 21" descr="preencoded.png"/>
          <p:cNvPicPr>
            <a:picLocks noChangeAspect="1"/>
          </p:cNvPicPr>
          <p:nvPr/>
        </p:nvPicPr>
        <p:blipFill>
          <a:blip r:embed="rId8"/>
          <a:srcRect l="-23" r="-23"/>
          <a:stretch/>
        </p:blipFill>
        <p:spPr>
          <a:xfrm>
            <a:off x="6286500" y="5795467"/>
            <a:ext cx="5296205" cy="761695"/>
          </a:xfrm>
          <a:prstGeom prst="rect">
            <a:avLst/>
          </a:prstGeom>
        </p:spPr>
      </p:pic>
      <p:sp>
        <p:nvSpPr>
          <p:cNvPr id="57" name="Shape 33"/>
          <p:cNvSpPr/>
          <p:nvPr/>
        </p:nvSpPr>
        <p:spPr>
          <a:xfrm>
            <a:off x="10143439" y="598566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8" name="Image 22" descr="preencoded.png"/>
          <p:cNvPicPr>
            <a:picLocks noChangeAspect="1"/>
          </p:cNvPicPr>
          <p:nvPr/>
        </p:nvPicPr>
        <p:blipFill>
          <a:blip r:embed="rId17"/>
          <a:srcRect/>
          <a:stretch/>
        </p:blipFill>
        <p:spPr>
          <a:xfrm>
            <a:off x="10248595" y="6089904"/>
            <a:ext cx="171907" cy="171907"/>
          </a:xfrm>
          <a:prstGeom prst="rect">
            <a:avLst/>
          </a:prstGeom>
        </p:spPr>
      </p:pic>
      <p:sp>
        <p:nvSpPr>
          <p:cNvPr id="59" name="Text 34"/>
          <p:cNvSpPr txBox="1"/>
          <p:nvPr/>
        </p:nvSpPr>
        <p:spPr>
          <a:xfrm>
            <a:off x="6362395" y="5985662"/>
            <a:ext cx="362925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D1FAE5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Azure Security</a:t>
            </a:r>
            <a:endParaRPr lang="en-US" sz="1200" dirty="0"/>
          </a:p>
        </p:txBody>
      </p:sp>
      <p:sp>
        <p:nvSpPr>
          <p:cNvPr id="60" name="Text 35"/>
          <p:cNvSpPr txBox="1"/>
          <p:nvPr/>
        </p:nvSpPr>
        <p:spPr>
          <a:xfrm>
            <a:off x="5835701" y="6207862"/>
            <a:ext cx="415686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Blob SAS tokens, encryption at rest, and strict RBAC policies.</a:t>
            </a:r>
            <a:endParaRPr lang="en-US" sz="900" dirty="0"/>
          </a:p>
        </p:txBody>
      </p:sp>
      <p:pic>
        <p:nvPicPr>
          <p:cNvPr id="61" name="Image 23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943600" y="2366467"/>
            <a:ext cx="304495" cy="304495"/>
          </a:xfrm>
          <a:prstGeom prst="rect">
            <a:avLst/>
          </a:prstGeom>
        </p:spPr>
      </p:pic>
      <p:pic>
        <p:nvPicPr>
          <p:cNvPr id="62" name="Image 24" descr="preencoded.png"/>
          <p:cNvPicPr>
            <a:picLocks noChangeAspect="1"/>
          </p:cNvPicPr>
          <p:nvPr/>
        </p:nvPicPr>
        <p:blipFill>
          <a:blip r:embed="rId19"/>
          <a:srcRect t="-829" b="-829"/>
          <a:stretch/>
        </p:blipFill>
        <p:spPr>
          <a:xfrm>
            <a:off x="6057900" y="2456993"/>
            <a:ext cx="75895" cy="123444"/>
          </a:xfrm>
          <a:prstGeom prst="rect">
            <a:avLst/>
          </a:prstGeom>
        </p:spPr>
      </p:pic>
      <p:pic>
        <p:nvPicPr>
          <p:cNvPr id="63" name="Image 25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943600" y="3280867"/>
            <a:ext cx="304495" cy="304495"/>
          </a:xfrm>
          <a:prstGeom prst="rect">
            <a:avLst/>
          </a:prstGeom>
        </p:spPr>
      </p:pic>
      <p:pic>
        <p:nvPicPr>
          <p:cNvPr id="64" name="Image 26" descr="preencoded.png"/>
          <p:cNvPicPr>
            <a:picLocks noChangeAspect="1"/>
          </p:cNvPicPr>
          <p:nvPr/>
        </p:nvPicPr>
        <p:blipFill>
          <a:blip r:embed="rId19"/>
          <a:srcRect t="-829" b="-829"/>
          <a:stretch/>
        </p:blipFill>
        <p:spPr>
          <a:xfrm>
            <a:off x="6057900" y="3371393"/>
            <a:ext cx="75895" cy="123444"/>
          </a:xfrm>
          <a:prstGeom prst="rect">
            <a:avLst/>
          </a:prstGeom>
        </p:spPr>
      </p:pic>
      <p:pic>
        <p:nvPicPr>
          <p:cNvPr id="65" name="Image 27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943600" y="4195267"/>
            <a:ext cx="304495" cy="304495"/>
          </a:xfrm>
          <a:prstGeom prst="rect">
            <a:avLst/>
          </a:prstGeom>
        </p:spPr>
      </p:pic>
      <p:pic>
        <p:nvPicPr>
          <p:cNvPr id="66" name="Image 28" descr="preencoded.png"/>
          <p:cNvPicPr>
            <a:picLocks noChangeAspect="1"/>
          </p:cNvPicPr>
          <p:nvPr/>
        </p:nvPicPr>
        <p:blipFill>
          <a:blip r:embed="rId19"/>
          <a:srcRect t="-829" b="-829"/>
          <a:stretch/>
        </p:blipFill>
        <p:spPr>
          <a:xfrm>
            <a:off x="6057900" y="4285793"/>
            <a:ext cx="75895" cy="123444"/>
          </a:xfrm>
          <a:prstGeom prst="rect">
            <a:avLst/>
          </a:prstGeom>
        </p:spPr>
      </p:pic>
      <p:pic>
        <p:nvPicPr>
          <p:cNvPr id="67" name="Image 29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943600" y="5109667"/>
            <a:ext cx="304495" cy="304495"/>
          </a:xfrm>
          <a:prstGeom prst="rect">
            <a:avLst/>
          </a:prstGeom>
        </p:spPr>
      </p:pic>
      <p:pic>
        <p:nvPicPr>
          <p:cNvPr id="68" name="Image 30" descr="preencoded.png"/>
          <p:cNvPicPr>
            <a:picLocks noChangeAspect="1"/>
          </p:cNvPicPr>
          <p:nvPr/>
        </p:nvPicPr>
        <p:blipFill>
          <a:blip r:embed="rId19"/>
          <a:srcRect t="-829" b="-829"/>
          <a:stretch/>
        </p:blipFill>
        <p:spPr>
          <a:xfrm>
            <a:off x="6057900" y="5200193"/>
            <a:ext cx="75895" cy="123444"/>
          </a:xfrm>
          <a:prstGeom prst="rect">
            <a:avLst/>
          </a:prstGeom>
        </p:spPr>
      </p:pic>
      <p:pic>
        <p:nvPicPr>
          <p:cNvPr id="69" name="Image 31" descr="preencoded.png"/>
          <p:cNvPicPr>
            <a:picLocks noChangeAspect="1"/>
          </p:cNvPicPr>
          <p:nvPr/>
        </p:nvPicPr>
        <p:blipFill>
          <a:blip r:embed="rId18"/>
          <a:srcRect/>
          <a:stretch/>
        </p:blipFill>
        <p:spPr>
          <a:xfrm>
            <a:off x="5943600" y="6024067"/>
            <a:ext cx="304495" cy="304495"/>
          </a:xfrm>
          <a:prstGeom prst="rect">
            <a:avLst/>
          </a:prstGeom>
        </p:spPr>
      </p:pic>
      <p:pic>
        <p:nvPicPr>
          <p:cNvPr id="70" name="Image 32" descr="preencoded.png"/>
          <p:cNvPicPr>
            <a:picLocks noChangeAspect="1"/>
          </p:cNvPicPr>
          <p:nvPr/>
        </p:nvPicPr>
        <p:blipFill>
          <a:blip r:embed="rId19"/>
          <a:srcRect t="-829" b="-829"/>
          <a:stretch/>
        </p:blipFill>
        <p:spPr>
          <a:xfrm>
            <a:off x="6057900" y="6114593"/>
            <a:ext cx="75895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429500" y="-952805"/>
            <a:ext cx="5715000" cy="5715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952805" y="3047695"/>
            <a:ext cx="4762195" cy="4762195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6487668" y="6381598"/>
            <a:ext cx="57817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47556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* Metrics presented are from pilot testing environment and are illustrative for this presentation.</a:t>
            </a:r>
            <a:endParaRPr lang="en-US" sz="900" dirty="0"/>
          </a:p>
        </p:txBody>
      </p:sp>
      <p:sp>
        <p:nvSpPr>
          <p:cNvPr id="6" name="Shape 2"/>
          <p:cNvSpPr/>
          <p:nvPr/>
        </p:nvSpPr>
        <p:spPr>
          <a:xfrm>
            <a:off x="609905" y="1680667"/>
            <a:ext cx="3333902" cy="1190549"/>
          </a:xfrm>
          <a:prstGeom prst="roundRect">
            <a:avLst>
              <a:gd name="adj" fmla="val 1474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Shape 3"/>
          <p:cNvSpPr/>
          <p:nvPr/>
        </p:nvSpPr>
        <p:spPr>
          <a:xfrm>
            <a:off x="847649" y="2004365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000354" y="2157070"/>
            <a:ext cx="228600" cy="22860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1571854" y="2002536"/>
            <a:ext cx="179131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82%</a:t>
            </a:r>
            <a:endParaRPr lang="en-US" sz="2400" dirty="0"/>
          </a:p>
        </p:txBody>
      </p:sp>
      <p:sp>
        <p:nvSpPr>
          <p:cNvPr id="10" name="Text 5"/>
          <p:cNvSpPr txBox="1"/>
          <p:nvPr/>
        </p:nvSpPr>
        <p:spPr>
          <a:xfrm>
            <a:off x="1571854" y="2345436"/>
            <a:ext cx="201168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Precision@3 (Top Matches)</a:t>
            </a:r>
            <a:endParaRPr lang="en-US" sz="1000" dirty="0"/>
          </a:p>
        </p:txBody>
      </p:sp>
      <p:sp>
        <p:nvSpPr>
          <p:cNvPr id="11" name="Shape 6"/>
          <p:cNvSpPr/>
          <p:nvPr/>
        </p:nvSpPr>
        <p:spPr>
          <a:xfrm>
            <a:off x="609905" y="3014777"/>
            <a:ext cx="3333902" cy="1190549"/>
          </a:xfrm>
          <a:prstGeom prst="roundRect">
            <a:avLst>
              <a:gd name="adj" fmla="val 1474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7"/>
          <p:cNvSpPr/>
          <p:nvPr/>
        </p:nvSpPr>
        <p:spPr>
          <a:xfrm>
            <a:off x="847649" y="3339389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00354" y="3492094"/>
            <a:ext cx="228600" cy="22860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571854" y="3337560"/>
            <a:ext cx="15243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60A5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93%</a:t>
            </a:r>
            <a:endParaRPr lang="en-US" sz="2400" dirty="0"/>
          </a:p>
        </p:txBody>
      </p:sp>
      <p:sp>
        <p:nvSpPr>
          <p:cNvPr id="15" name="Text 9"/>
          <p:cNvSpPr txBox="1"/>
          <p:nvPr/>
        </p:nvSpPr>
        <p:spPr>
          <a:xfrm>
            <a:off x="1571854" y="3680460"/>
            <a:ext cx="172364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Candidate Recall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609905" y="4349801"/>
            <a:ext cx="3333902" cy="1190549"/>
          </a:xfrm>
          <a:prstGeom prst="roundRect">
            <a:avLst>
              <a:gd name="adj" fmla="val 1474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7" name="Shape 11"/>
          <p:cNvSpPr/>
          <p:nvPr/>
        </p:nvSpPr>
        <p:spPr>
          <a:xfrm>
            <a:off x="847649" y="4673498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F59E0B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rcRect l="-57" r="-57"/>
          <a:stretch/>
        </p:blipFill>
        <p:spPr>
          <a:xfrm>
            <a:off x="1014070" y="4826203"/>
            <a:ext cx="200254" cy="22860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571854" y="4671670"/>
            <a:ext cx="1410005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BBF2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38s</a:t>
            </a:r>
            <a:endParaRPr lang="en-US" sz="2400" dirty="0"/>
          </a:p>
        </p:txBody>
      </p:sp>
      <p:sp>
        <p:nvSpPr>
          <p:cNvPr id="20" name="Text 13"/>
          <p:cNvSpPr txBox="1"/>
          <p:nvPr/>
        </p:nvSpPr>
        <p:spPr>
          <a:xfrm>
            <a:off x="1571854" y="5014570"/>
            <a:ext cx="153070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Ranking Time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609905" y="5683910"/>
            <a:ext cx="3333902" cy="1190549"/>
          </a:xfrm>
          <a:prstGeom prst="roundRect">
            <a:avLst>
              <a:gd name="adj" fmla="val 14747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2" name="Shape 15"/>
          <p:cNvSpPr/>
          <p:nvPr/>
        </p:nvSpPr>
        <p:spPr>
          <a:xfrm>
            <a:off x="847649" y="6008522"/>
            <a:ext cx="533095" cy="533095"/>
          </a:xfrm>
          <a:prstGeom prst="roundRect">
            <a:avLst>
              <a:gd name="adj" fmla="val 73511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8"/>
          <a:srcRect l="-57" r="-57"/>
          <a:stretch/>
        </p:blipFill>
        <p:spPr>
          <a:xfrm>
            <a:off x="1014070" y="6161227"/>
            <a:ext cx="200254" cy="228600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1571854" y="6006694"/>
            <a:ext cx="1267358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2.6s</a:t>
            </a:r>
            <a:endParaRPr lang="en-US" sz="2400" dirty="0"/>
          </a:p>
        </p:txBody>
      </p:sp>
      <p:sp>
        <p:nvSpPr>
          <p:cNvPr id="25" name="Text 17"/>
          <p:cNvSpPr txBox="1"/>
          <p:nvPr/>
        </p:nvSpPr>
        <p:spPr>
          <a:xfrm>
            <a:off x="1571854" y="6349594"/>
            <a:ext cx="14173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Chat Latency (p95)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609905" y="1452067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7" name="Text 19"/>
          <p:cNvSpPr txBox="1"/>
          <p:nvPr/>
        </p:nvSpPr>
        <p:spPr>
          <a:xfrm>
            <a:off x="609905" y="457200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Demo &amp; Results</a:t>
            </a:r>
            <a:endParaRPr lang="en-US" sz="3300" dirty="0"/>
          </a:p>
        </p:txBody>
      </p:sp>
      <p:sp>
        <p:nvSpPr>
          <p:cNvPr id="28" name="Text 20"/>
          <p:cNvSpPr txBox="1"/>
          <p:nvPr/>
        </p:nvSpPr>
        <p:spPr>
          <a:xfrm>
            <a:off x="609905" y="1123798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performance metrics and sample ranking output</a:t>
            </a:r>
            <a:endParaRPr lang="en-US" sz="1300" dirty="0"/>
          </a:p>
        </p:txBody>
      </p:sp>
      <p:pic>
        <p:nvPicPr>
          <p:cNvPr id="29" name="Image 6" descr="preencoded.png"/>
          <p:cNvPicPr>
            <a:picLocks noChangeAspect="1"/>
          </p:cNvPicPr>
          <p:nvPr/>
        </p:nvPicPr>
        <p:blipFill>
          <a:blip r:embed="rId9"/>
          <a:srcRect t="-1" b="-1"/>
          <a:stretch/>
        </p:blipFill>
        <p:spPr>
          <a:xfrm>
            <a:off x="4248302" y="1680667"/>
            <a:ext cx="7334402" cy="5186477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4257446" y="1689811"/>
            <a:ext cx="7315200" cy="437998"/>
          </a:xfrm>
          <a:prstGeom prst="roundRect">
            <a:avLst>
              <a:gd name="adj" fmla="val 108922"/>
            </a:avLst>
          </a:prstGeom>
          <a:solidFill>
            <a:srgbClr val="0F172A"/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1" name="Shape 22"/>
          <p:cNvSpPr/>
          <p:nvPr/>
        </p:nvSpPr>
        <p:spPr>
          <a:xfrm>
            <a:off x="4257446" y="2118665"/>
            <a:ext cx="7315200" cy="9144"/>
          </a:xfrm>
          <a:prstGeom prst="roundRect">
            <a:avLst>
              <a:gd name="adj" fmla="val 5217391"/>
            </a:avLst>
          </a:prstGeom>
          <a:solidFill>
            <a:srgbClr val="94A3B8">
              <a:alpha val="10000"/>
            </a:srgbClr>
          </a:solidFill>
          <a:ln w="12700">
            <a:solidFill>
              <a:srgbClr val="94A3B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2" name="Shape 23"/>
          <p:cNvSpPr/>
          <p:nvPr/>
        </p:nvSpPr>
        <p:spPr>
          <a:xfrm>
            <a:off x="4448556" y="1853489"/>
            <a:ext cx="95098" cy="95098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Shape 24"/>
          <p:cNvSpPr/>
          <p:nvPr/>
        </p:nvSpPr>
        <p:spPr>
          <a:xfrm>
            <a:off x="4600346" y="1853489"/>
            <a:ext cx="95098" cy="9509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4" name="Shape 25"/>
          <p:cNvSpPr/>
          <p:nvPr/>
        </p:nvSpPr>
        <p:spPr>
          <a:xfrm>
            <a:off x="4753051" y="1853489"/>
            <a:ext cx="95098" cy="9509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5" name="Text 26"/>
          <p:cNvSpPr txBox="1"/>
          <p:nvPr/>
        </p:nvSpPr>
        <p:spPr>
          <a:xfrm>
            <a:off x="6821424" y="1804111"/>
            <a:ext cx="2629814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Project Metch - Ranking Dashboard</a:t>
            </a:r>
            <a:endParaRPr lang="en-US" sz="100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10"/>
          <a:srcRect t="-1" b="-1"/>
          <a:stretch/>
        </p:blipFill>
        <p:spPr>
          <a:xfrm>
            <a:off x="4257446" y="2122322"/>
            <a:ext cx="7315200" cy="4734763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4562856" y="2350922"/>
            <a:ext cx="199522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Role: Senior React Developer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9774936" y="2350922"/>
            <a:ext cx="178033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Candidates Processed: 14</a:t>
            </a:r>
            <a:endParaRPr lang="en-US" sz="900" dirty="0"/>
          </a:p>
        </p:txBody>
      </p:sp>
      <p:sp>
        <p:nvSpPr>
          <p:cNvPr id="39" name="Shape 29"/>
          <p:cNvSpPr/>
          <p:nvPr/>
        </p:nvSpPr>
        <p:spPr>
          <a:xfrm>
            <a:off x="4486046" y="2762402"/>
            <a:ext cx="6858000" cy="2381098"/>
          </a:xfrm>
          <a:prstGeom prst="roundRect">
            <a:avLst>
              <a:gd name="adj" fmla="val 2458"/>
            </a:avLst>
          </a:prstGeom>
          <a:solidFill>
            <a:srgbClr val="334155">
              <a:alpha val="60000"/>
            </a:srgbClr>
          </a:solidFill>
          <a:ln w="12700">
            <a:solidFill>
              <a:srgbClr val="38BDF8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0" name="Shape 30"/>
          <p:cNvSpPr/>
          <p:nvPr/>
        </p:nvSpPr>
        <p:spPr>
          <a:xfrm>
            <a:off x="4647895" y="2924251"/>
            <a:ext cx="342900" cy="3429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Text 31"/>
          <p:cNvSpPr/>
          <p:nvPr/>
        </p:nvSpPr>
        <p:spPr>
          <a:xfrm>
            <a:off x="4619549" y="2924251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</a:t>
            </a:r>
            <a:endParaRPr lang="en-US" sz="1000" dirty="0"/>
          </a:p>
        </p:txBody>
      </p:sp>
      <p:sp>
        <p:nvSpPr>
          <p:cNvPr id="42" name="Text 32"/>
          <p:cNvSpPr txBox="1"/>
          <p:nvPr/>
        </p:nvSpPr>
        <p:spPr>
          <a:xfrm>
            <a:off x="5105095" y="2981858"/>
            <a:ext cx="880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1F5F9"/>
                </a:solidFill>
                <a:latin typeface="Inter" pitchFamily="34" charset="0"/>
                <a:ea typeface="Inter" pitchFamily="34" charset="-122"/>
              </a:rPr>
              <a:t>Manish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10246766" y="2950769"/>
            <a:ext cx="942746" cy="295351"/>
          </a:xfrm>
          <a:prstGeom prst="roundRect">
            <a:avLst>
              <a:gd name="adj" fmla="val 309598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4" name="Text 34"/>
          <p:cNvSpPr/>
          <p:nvPr/>
        </p:nvSpPr>
        <p:spPr>
          <a:xfrm>
            <a:off x="10218420" y="2950769"/>
            <a:ext cx="10003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95% Match</a:t>
            </a:r>
            <a:endParaRPr lang="en-US" sz="1000" dirty="0"/>
          </a:p>
        </p:txBody>
      </p:sp>
      <p:sp>
        <p:nvSpPr>
          <p:cNvPr id="45" name="Shape 35"/>
          <p:cNvSpPr/>
          <p:nvPr/>
        </p:nvSpPr>
        <p:spPr>
          <a:xfrm>
            <a:off x="4647895" y="3381451"/>
            <a:ext cx="6534302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36"/>
          <p:cNvSpPr txBox="1"/>
          <p:nvPr/>
        </p:nvSpPr>
        <p:spPr>
          <a:xfrm>
            <a:off x="4876495" y="3504895"/>
            <a:ext cx="6420002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AI Alignment Analysis</a:t>
            </a:r>
            <a:endParaRPr lang="en-US" sz="900" dirty="0"/>
          </a:p>
        </p:txBody>
      </p:sp>
      <p:pic>
        <p:nvPicPr>
          <p:cNvPr id="47" name="Image 8" descr="preencoded.png"/>
          <p:cNvPicPr>
            <a:picLocks noChangeAspect="1"/>
          </p:cNvPicPr>
          <p:nvPr/>
        </p:nvPicPr>
        <p:blipFill>
          <a:blip r:embed="rId11"/>
          <a:srcRect l="-3440" r="-3440"/>
          <a:stretch/>
        </p:blipFill>
        <p:spPr>
          <a:xfrm>
            <a:off x="4647895" y="3534156"/>
            <a:ext cx="152705" cy="114300"/>
          </a:xfrm>
          <a:prstGeom prst="rect">
            <a:avLst/>
          </a:prstGeom>
        </p:spPr>
      </p:pic>
      <p:sp>
        <p:nvSpPr>
          <p:cNvPr id="48" name="Text 37"/>
          <p:cNvSpPr txBox="1"/>
          <p:nvPr/>
        </p:nvSpPr>
        <p:spPr>
          <a:xfrm>
            <a:off x="4647895" y="3729838"/>
            <a:ext cx="661111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Strongest candidate. Exceeds requirement for 5+ years React experience and demonstrates leadership in cloud migrations.</a:t>
            </a:r>
            <a:endParaRPr lang="en-US" sz="1000" dirty="0"/>
          </a:p>
        </p:txBody>
      </p:sp>
      <p:sp>
        <p:nvSpPr>
          <p:cNvPr id="49" name="Text 38"/>
          <p:cNvSpPr txBox="1"/>
          <p:nvPr/>
        </p:nvSpPr>
        <p:spPr>
          <a:xfrm>
            <a:off x="4828946" y="4207154"/>
            <a:ext cx="646755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kern="0" spc="45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Cited Evidence</a:t>
            </a:r>
            <a:endParaRPr lang="en-US" sz="900" dirty="0"/>
          </a:p>
        </p:txBody>
      </p:sp>
      <p:pic>
        <p:nvPicPr>
          <p:cNvPr id="50" name="Image 9" descr="preencoded.png"/>
          <p:cNvPicPr>
            <a:picLocks noChangeAspect="1"/>
          </p:cNvPicPr>
          <p:nvPr/>
        </p:nvPicPr>
        <p:blipFill>
          <a:blip r:embed="rId12"/>
          <a:srcRect l="-2571" r="-2571"/>
          <a:stretch/>
        </p:blipFill>
        <p:spPr>
          <a:xfrm>
            <a:off x="4647895" y="4235501"/>
            <a:ext cx="105156" cy="114300"/>
          </a:xfrm>
          <a:prstGeom prst="rect">
            <a:avLst/>
          </a:prstGeom>
        </p:spPr>
      </p:pic>
      <p:sp>
        <p:nvSpPr>
          <p:cNvPr id="51" name="Shape 39"/>
          <p:cNvSpPr/>
          <p:nvPr/>
        </p:nvSpPr>
        <p:spPr>
          <a:xfrm>
            <a:off x="4647895" y="4432097"/>
            <a:ext cx="6534302" cy="552298"/>
          </a:xfrm>
          <a:prstGeom prst="roundRect">
            <a:avLst>
              <a:gd name="adj" fmla="val 22836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52" name="Shape 40"/>
          <p:cNvSpPr/>
          <p:nvPr/>
        </p:nvSpPr>
        <p:spPr>
          <a:xfrm>
            <a:off x="4647895" y="4432097"/>
            <a:ext cx="28346" cy="552298"/>
          </a:xfrm>
          <a:prstGeom prst="roundRect">
            <a:avLst>
              <a:gd name="adj" fmla="val 444945"/>
            </a:avLst>
          </a:prstGeom>
          <a:solidFill>
            <a:srgbClr val="60A5FA"/>
          </a:solidFill>
          <a:ln w="12700">
            <a:solidFill>
              <a:srgbClr val="60A5FA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3" name="Text 41"/>
          <p:cNvSpPr txBox="1"/>
          <p:nvPr/>
        </p:nvSpPr>
        <p:spPr>
          <a:xfrm>
            <a:off x="4647895" y="4432097"/>
            <a:ext cx="6611112" cy="553212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27000" tIns="88900" rIns="127000" bIns="8890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"...led the migration of legacy monolithic frontend to React 18 micro-frontends on Azure, reducing load times by 40%..." </a:t>
            </a:r>
            <a:r>
              <a:rPr lang="en-US" sz="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(Resume_Alex_Chen.pdf, pg 2)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5435194" y="4734763"/>
            <a:ext cx="183703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i="1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(Resume_Alex_Chen.pdf, pg 2)</a:t>
            </a:r>
            <a:endParaRPr lang="en-US" sz="800" dirty="0"/>
          </a:p>
        </p:txBody>
      </p:sp>
      <p:sp>
        <p:nvSpPr>
          <p:cNvPr id="55" name="Shape 43"/>
          <p:cNvSpPr/>
          <p:nvPr/>
        </p:nvSpPr>
        <p:spPr>
          <a:xfrm>
            <a:off x="4486046" y="5295290"/>
            <a:ext cx="6858000" cy="590702"/>
          </a:xfrm>
          <a:prstGeom prst="roundRect">
            <a:avLst>
              <a:gd name="adj" fmla="val 39948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6" name="Shape 44"/>
          <p:cNvSpPr/>
          <p:nvPr/>
        </p:nvSpPr>
        <p:spPr>
          <a:xfrm>
            <a:off x="4647895" y="5418734"/>
            <a:ext cx="342900" cy="342900"/>
          </a:xfrm>
          <a:prstGeom prst="ellipse">
            <a:avLst/>
          </a:prstGeom>
          <a:solidFill>
            <a:srgbClr val="64748B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7" name="Text 45"/>
          <p:cNvSpPr/>
          <p:nvPr/>
        </p:nvSpPr>
        <p:spPr>
          <a:xfrm>
            <a:off x="4619549" y="5418734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SJ</a:t>
            </a:r>
            <a:endParaRPr lang="en-US" sz="1000" dirty="0"/>
          </a:p>
        </p:txBody>
      </p:sp>
      <p:sp>
        <p:nvSpPr>
          <p:cNvPr id="58" name="Text 46"/>
          <p:cNvSpPr txBox="1"/>
          <p:nvPr/>
        </p:nvSpPr>
        <p:spPr>
          <a:xfrm>
            <a:off x="5105095" y="5475427"/>
            <a:ext cx="107624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chemeClr val="bg1"/>
                </a:solidFill>
              </a:rPr>
              <a:t>Stalin</a:t>
            </a:r>
          </a:p>
        </p:txBody>
      </p:sp>
      <p:sp>
        <p:nvSpPr>
          <p:cNvPr id="59" name="Shape 47"/>
          <p:cNvSpPr/>
          <p:nvPr/>
        </p:nvSpPr>
        <p:spPr>
          <a:xfrm>
            <a:off x="10243109" y="5445252"/>
            <a:ext cx="942746" cy="295351"/>
          </a:xfrm>
          <a:prstGeom prst="roundRect">
            <a:avLst>
              <a:gd name="adj" fmla="val 309598"/>
            </a:avLst>
          </a:prstGeom>
          <a:solidFill>
            <a:srgbClr val="3B82F6">
              <a:alpha val="70000"/>
            </a:srgbClr>
          </a:solidFill>
          <a:ln w="12700">
            <a:solidFill>
              <a:srgbClr val="3B82F6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0" name="Text 48"/>
          <p:cNvSpPr/>
          <p:nvPr/>
        </p:nvSpPr>
        <p:spPr>
          <a:xfrm>
            <a:off x="10214762" y="5445252"/>
            <a:ext cx="1000354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60A5FA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88% Match</a:t>
            </a:r>
            <a:endParaRPr lang="en-US" sz="1000" dirty="0"/>
          </a:p>
        </p:txBody>
      </p:sp>
      <p:sp>
        <p:nvSpPr>
          <p:cNvPr id="61" name="Shape 49"/>
          <p:cNvSpPr/>
          <p:nvPr/>
        </p:nvSpPr>
        <p:spPr>
          <a:xfrm>
            <a:off x="4486046" y="6037783"/>
            <a:ext cx="6858000" cy="590702"/>
          </a:xfrm>
          <a:prstGeom prst="roundRect">
            <a:avLst>
              <a:gd name="adj" fmla="val 39948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2" name="Shape 50"/>
          <p:cNvSpPr/>
          <p:nvPr/>
        </p:nvSpPr>
        <p:spPr>
          <a:xfrm>
            <a:off x="4647895" y="6161227"/>
            <a:ext cx="342900" cy="342900"/>
          </a:xfrm>
          <a:prstGeom prst="ellipse">
            <a:avLst/>
          </a:prstGeom>
          <a:solidFill>
            <a:srgbClr val="64748B">
              <a:alpha val="7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3" name="Text 51"/>
          <p:cNvSpPr/>
          <p:nvPr/>
        </p:nvSpPr>
        <p:spPr>
          <a:xfrm>
            <a:off x="4619549" y="6161227"/>
            <a:ext cx="400507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MR</a:t>
            </a:r>
            <a:endParaRPr lang="en-US" sz="1000" dirty="0"/>
          </a:p>
        </p:txBody>
      </p:sp>
      <p:sp>
        <p:nvSpPr>
          <p:cNvPr id="64" name="Text 52"/>
          <p:cNvSpPr txBox="1"/>
          <p:nvPr/>
        </p:nvSpPr>
        <p:spPr>
          <a:xfrm>
            <a:off x="5105095" y="6218834"/>
            <a:ext cx="88056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Laxmi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5" name="Shape 53"/>
          <p:cNvSpPr/>
          <p:nvPr/>
        </p:nvSpPr>
        <p:spPr>
          <a:xfrm>
            <a:off x="10254996" y="6188659"/>
            <a:ext cx="933602" cy="295351"/>
          </a:xfrm>
          <a:prstGeom prst="roundRect">
            <a:avLst>
              <a:gd name="adj" fmla="val 309598"/>
            </a:avLst>
          </a:prstGeom>
          <a:solidFill>
            <a:srgbClr val="F59E0B">
              <a:alpha val="70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6" name="Text 54"/>
          <p:cNvSpPr/>
          <p:nvPr/>
        </p:nvSpPr>
        <p:spPr>
          <a:xfrm>
            <a:off x="10226650" y="6188659"/>
            <a:ext cx="991210" cy="295351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101600" tIns="38100" rIns="101600" bIns="381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BBF24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72% Match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438705" y="-1429207"/>
            <a:ext cx="5715000" cy="571500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038905" y="2572207"/>
            <a:ext cx="5715000" cy="5715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452067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8B5C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" name="Text 2"/>
          <p:cNvSpPr txBox="1"/>
          <p:nvPr/>
        </p:nvSpPr>
        <p:spPr>
          <a:xfrm>
            <a:off x="609905" y="457200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Future Roadmap</a:t>
            </a:r>
            <a:endParaRPr lang="en-US" sz="3300" dirty="0"/>
          </a:p>
        </p:txBody>
      </p:sp>
      <p:sp>
        <p:nvSpPr>
          <p:cNvPr id="7" name="Text 3"/>
          <p:cNvSpPr txBox="1"/>
          <p:nvPr/>
        </p:nvSpPr>
        <p:spPr>
          <a:xfrm>
            <a:off x="609905" y="1123798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Strategic development timeline and planned enhancements</a:t>
            </a:r>
            <a:endParaRPr lang="en-US" sz="13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t="-401" b="-401"/>
          <a:stretch/>
        </p:blipFill>
        <p:spPr>
          <a:xfrm>
            <a:off x="1707185" y="2213762"/>
            <a:ext cx="8778240" cy="19202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6"/>
          <a:srcRect t="-400" b="-400"/>
          <a:stretch/>
        </p:blipFill>
        <p:spPr>
          <a:xfrm>
            <a:off x="2365553" y="2213762"/>
            <a:ext cx="3621024" cy="19202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609905" y="2316175"/>
            <a:ext cx="3457346" cy="4743907"/>
          </a:xfrm>
          <a:prstGeom prst="roundRect">
            <a:avLst>
              <a:gd name="adj" fmla="val 233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5"/>
          <p:cNvSpPr/>
          <p:nvPr/>
        </p:nvSpPr>
        <p:spPr>
          <a:xfrm>
            <a:off x="609905" y="2316175"/>
            <a:ext cx="3435401" cy="38405"/>
          </a:xfrm>
          <a:prstGeom prst="rect">
            <a:avLst/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2" name="Shape 6"/>
          <p:cNvSpPr/>
          <p:nvPr/>
        </p:nvSpPr>
        <p:spPr>
          <a:xfrm>
            <a:off x="847649" y="3240634"/>
            <a:ext cx="298094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3" name="Text 7"/>
          <p:cNvSpPr txBox="1"/>
          <p:nvPr/>
        </p:nvSpPr>
        <p:spPr>
          <a:xfrm>
            <a:off x="790956" y="2554834"/>
            <a:ext cx="3096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8BDF8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1-2 Months</a:t>
            </a:r>
            <a:endParaRPr lang="en-US" sz="1800" dirty="0"/>
          </a:p>
        </p:txBody>
      </p:sp>
      <p:sp>
        <p:nvSpPr>
          <p:cNvPr id="14" name="Text 8"/>
          <p:cNvSpPr txBox="1"/>
          <p:nvPr/>
        </p:nvSpPr>
        <p:spPr>
          <a:xfrm>
            <a:off x="790956" y="2935224"/>
            <a:ext cx="3096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6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Immediate Term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847649" y="3432658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0"/>
          <p:cNvSpPr/>
          <p:nvPr/>
        </p:nvSpPr>
        <p:spPr>
          <a:xfrm>
            <a:off x="923544" y="3508553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1009498" y="3594506"/>
            <a:ext cx="133502" cy="133502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1380744" y="3508553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Interviewer Co-Pilot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question suggestions during live calls.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847649" y="4313225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0" name="Shape 13"/>
          <p:cNvSpPr/>
          <p:nvPr/>
        </p:nvSpPr>
        <p:spPr>
          <a:xfrm>
            <a:off x="923544" y="439003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1" name="Image 5" descr="preencoded.png"/>
          <p:cNvPicPr>
            <a:picLocks noChangeAspect="1"/>
          </p:cNvPicPr>
          <p:nvPr/>
        </p:nvPicPr>
        <p:blipFill>
          <a:blip r:embed="rId8"/>
          <a:srcRect l="-2512" r="-2512"/>
          <a:stretch/>
        </p:blipFill>
        <p:spPr>
          <a:xfrm>
            <a:off x="1024128" y="4475074"/>
            <a:ext cx="105156" cy="13350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1380744" y="4390034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Structured Guides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Auto-generated interview rubrics based on JD.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847649" y="5194706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4" name="Shape 16"/>
          <p:cNvSpPr/>
          <p:nvPr/>
        </p:nvSpPr>
        <p:spPr>
          <a:xfrm>
            <a:off x="923544" y="52706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5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1009498" y="5356555"/>
            <a:ext cx="133502" cy="133502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1380744" y="5270602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Feedback Loop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RLHF system to refine rankings based on hiring decisions.</a:t>
            </a:r>
            <a:endParaRPr lang="en-US" sz="1000" dirty="0"/>
          </a:p>
        </p:txBody>
      </p:sp>
      <p:sp>
        <p:nvSpPr>
          <p:cNvPr id="27" name="Shape 18"/>
          <p:cNvSpPr/>
          <p:nvPr/>
        </p:nvSpPr>
        <p:spPr>
          <a:xfrm>
            <a:off x="4369003" y="2316175"/>
            <a:ext cx="3457346" cy="4743907"/>
          </a:xfrm>
          <a:prstGeom prst="roundRect">
            <a:avLst>
              <a:gd name="adj" fmla="val 233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8" name="Shape 19"/>
          <p:cNvSpPr/>
          <p:nvPr/>
        </p:nvSpPr>
        <p:spPr>
          <a:xfrm>
            <a:off x="4369003" y="2316175"/>
            <a:ext cx="3435401" cy="38405"/>
          </a:xfrm>
          <a:prstGeom prst="rect">
            <a:avLst/>
          </a:prstGeom>
          <a:solidFill>
            <a:srgbClr val="A78BF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9" name="Shape 20"/>
          <p:cNvSpPr/>
          <p:nvPr/>
        </p:nvSpPr>
        <p:spPr>
          <a:xfrm>
            <a:off x="4606747" y="3240634"/>
            <a:ext cx="298094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0" name="Text 21"/>
          <p:cNvSpPr txBox="1"/>
          <p:nvPr/>
        </p:nvSpPr>
        <p:spPr>
          <a:xfrm>
            <a:off x="4550054" y="2554834"/>
            <a:ext cx="3096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78BF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3-6 Months</a:t>
            </a:r>
            <a:endParaRPr lang="en-US" sz="1800" dirty="0"/>
          </a:p>
        </p:txBody>
      </p:sp>
      <p:sp>
        <p:nvSpPr>
          <p:cNvPr id="31" name="Text 22"/>
          <p:cNvSpPr txBox="1"/>
          <p:nvPr/>
        </p:nvSpPr>
        <p:spPr>
          <a:xfrm>
            <a:off x="4550054" y="2935224"/>
            <a:ext cx="3096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6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 Term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4606747" y="3432658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3" name="Shape 24"/>
          <p:cNvSpPr/>
          <p:nvPr/>
        </p:nvSpPr>
        <p:spPr>
          <a:xfrm>
            <a:off x="4682642" y="3508553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 l="-2512" r="-2512"/>
          <a:stretch/>
        </p:blipFill>
        <p:spPr>
          <a:xfrm>
            <a:off x="4783226" y="3594506"/>
            <a:ext cx="105156" cy="133502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139842" y="3508553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Multi-tenant Orgs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Secure data isolation for multiple departments/teams.</a:t>
            </a:r>
            <a:endParaRPr lang="en-US" sz="1000" dirty="0"/>
          </a:p>
        </p:txBody>
      </p:sp>
      <p:sp>
        <p:nvSpPr>
          <p:cNvPr id="36" name="Shape 26"/>
          <p:cNvSpPr/>
          <p:nvPr/>
        </p:nvSpPr>
        <p:spPr>
          <a:xfrm>
            <a:off x="4606747" y="4313225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Shape 27"/>
          <p:cNvSpPr/>
          <p:nvPr/>
        </p:nvSpPr>
        <p:spPr>
          <a:xfrm>
            <a:off x="4682642" y="439003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11"/>
          <a:srcRect l="-837" r="-837"/>
          <a:stretch/>
        </p:blipFill>
        <p:spPr>
          <a:xfrm>
            <a:off x="4759452" y="4475074"/>
            <a:ext cx="152705" cy="133502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139842" y="4390034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Analytics Dashboards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Recruitment funnel metrics and bias detection reports.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4606747" y="5194706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1" name="Shape 30"/>
          <p:cNvSpPr/>
          <p:nvPr/>
        </p:nvSpPr>
        <p:spPr>
          <a:xfrm>
            <a:off x="4682642" y="52706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12"/>
          <a:srcRect l="-1507" r="-1507"/>
          <a:stretch/>
        </p:blipFill>
        <p:spPr>
          <a:xfrm>
            <a:off x="4749394" y="5356555"/>
            <a:ext cx="171907" cy="133502"/>
          </a:xfrm>
          <a:prstGeom prst="rect">
            <a:avLst/>
          </a:prstGeom>
        </p:spPr>
      </p:pic>
      <p:sp>
        <p:nvSpPr>
          <p:cNvPr id="43" name="Text 31"/>
          <p:cNvSpPr txBox="1"/>
          <p:nvPr/>
        </p:nvSpPr>
        <p:spPr>
          <a:xfrm>
            <a:off x="5139842" y="5270602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Multilingual Support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Parse CVs and answer queries in 10+ languages.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4606747" y="6075274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5" name="Shape 33"/>
          <p:cNvSpPr/>
          <p:nvPr/>
        </p:nvSpPr>
        <p:spPr>
          <a:xfrm>
            <a:off x="4682642" y="6151169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A78BFA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13"/>
          <a:srcRect l="-2838" r="-2838"/>
          <a:stretch/>
        </p:blipFill>
        <p:spPr>
          <a:xfrm>
            <a:off x="4773168" y="6237122"/>
            <a:ext cx="123444" cy="133502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5139842" y="6151169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SSO Integration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Enterprise login via Azure Active Directory.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8128102" y="2316175"/>
            <a:ext cx="3457346" cy="4743907"/>
          </a:xfrm>
          <a:prstGeom prst="roundRect">
            <a:avLst>
              <a:gd name="adj" fmla="val 233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9" name="Shape 36"/>
          <p:cNvSpPr/>
          <p:nvPr/>
        </p:nvSpPr>
        <p:spPr>
          <a:xfrm>
            <a:off x="8128102" y="2316175"/>
            <a:ext cx="3435401" cy="38405"/>
          </a:xfrm>
          <a:prstGeom prst="rect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0" name="Shape 37"/>
          <p:cNvSpPr/>
          <p:nvPr/>
        </p:nvSpPr>
        <p:spPr>
          <a:xfrm>
            <a:off x="8365846" y="3240634"/>
            <a:ext cx="2980944" cy="9144"/>
          </a:xfrm>
          <a:prstGeom prst="rect">
            <a:avLst/>
          </a:prstGeom>
          <a:solidFill>
            <a:srgbClr val="FFFFFF">
              <a:alpha val="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1" name="Text 38"/>
          <p:cNvSpPr txBox="1"/>
          <p:nvPr/>
        </p:nvSpPr>
        <p:spPr>
          <a:xfrm>
            <a:off x="8309153" y="2554834"/>
            <a:ext cx="309615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4D39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6-12 Months</a:t>
            </a:r>
            <a:endParaRPr lang="en-US" sz="1800" dirty="0"/>
          </a:p>
        </p:txBody>
      </p:sp>
      <p:sp>
        <p:nvSpPr>
          <p:cNvPr id="52" name="Text 39"/>
          <p:cNvSpPr txBox="1"/>
          <p:nvPr/>
        </p:nvSpPr>
        <p:spPr>
          <a:xfrm>
            <a:off x="8309153" y="2935224"/>
            <a:ext cx="30961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96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 Term</a:t>
            </a:r>
            <a:endParaRPr lang="en-US" sz="900" dirty="0"/>
          </a:p>
        </p:txBody>
      </p:sp>
      <p:sp>
        <p:nvSpPr>
          <p:cNvPr id="53" name="Shape 40"/>
          <p:cNvSpPr/>
          <p:nvPr/>
        </p:nvSpPr>
        <p:spPr>
          <a:xfrm>
            <a:off x="8365846" y="3432658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4" name="Shape 41"/>
          <p:cNvSpPr/>
          <p:nvPr/>
        </p:nvSpPr>
        <p:spPr>
          <a:xfrm>
            <a:off x="8442655" y="3508553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5" name="Image 11" descr="preencoded.png"/>
          <p:cNvPicPr>
            <a:picLocks noChangeAspect="1"/>
          </p:cNvPicPr>
          <p:nvPr/>
        </p:nvPicPr>
        <p:blipFill>
          <a:blip r:embed="rId14"/>
          <a:srcRect l="-837" r="-837"/>
          <a:stretch/>
        </p:blipFill>
        <p:spPr>
          <a:xfrm>
            <a:off x="8518550" y="3594506"/>
            <a:ext cx="152705" cy="133502"/>
          </a:xfrm>
          <a:prstGeom prst="rect">
            <a:avLst/>
          </a:prstGeom>
        </p:spPr>
      </p:pic>
      <p:sp>
        <p:nvSpPr>
          <p:cNvPr id="56" name="Text 42"/>
          <p:cNvSpPr txBox="1"/>
          <p:nvPr/>
        </p:nvSpPr>
        <p:spPr>
          <a:xfrm>
            <a:off x="8899855" y="3508553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Compliance Suite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Full SOC2 Type II &amp; GDPR automated auditing.</a:t>
            </a:r>
            <a:endParaRPr lang="en-US" sz="1000" dirty="0"/>
          </a:p>
        </p:txBody>
      </p:sp>
      <p:sp>
        <p:nvSpPr>
          <p:cNvPr id="57" name="Shape 43"/>
          <p:cNvSpPr/>
          <p:nvPr/>
        </p:nvSpPr>
        <p:spPr>
          <a:xfrm>
            <a:off x="8365846" y="4313225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58" name="Shape 44"/>
          <p:cNvSpPr/>
          <p:nvPr/>
        </p:nvSpPr>
        <p:spPr>
          <a:xfrm>
            <a:off x="8442655" y="4390034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59" name="Image 12" descr="preencoded.png"/>
          <p:cNvPicPr>
            <a:picLocks noChangeAspect="1"/>
          </p:cNvPicPr>
          <p:nvPr/>
        </p:nvPicPr>
        <p:blipFill>
          <a:blip r:embed="rId15"/>
          <a:srcRect l="-2838" r="-2838"/>
          <a:stretch/>
        </p:blipFill>
        <p:spPr>
          <a:xfrm>
            <a:off x="8533181" y="4475074"/>
            <a:ext cx="123444" cy="133502"/>
          </a:xfrm>
          <a:prstGeom prst="rect">
            <a:avLst/>
          </a:prstGeom>
        </p:spPr>
      </p:pic>
      <p:sp>
        <p:nvSpPr>
          <p:cNvPr id="60" name="Text 45"/>
          <p:cNvSpPr txBox="1"/>
          <p:nvPr/>
        </p:nvSpPr>
        <p:spPr>
          <a:xfrm>
            <a:off x="8899855" y="4390034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Distillation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Training smaller, specialized models for cost efficiency.</a:t>
            </a:r>
            <a:endParaRPr lang="en-US" sz="1000" dirty="0"/>
          </a:p>
        </p:txBody>
      </p:sp>
      <p:sp>
        <p:nvSpPr>
          <p:cNvPr id="61" name="Shape 46"/>
          <p:cNvSpPr/>
          <p:nvPr/>
        </p:nvSpPr>
        <p:spPr>
          <a:xfrm>
            <a:off x="8365846" y="5194706"/>
            <a:ext cx="2980944" cy="733349"/>
          </a:xfrm>
          <a:prstGeom prst="roundRect">
            <a:avLst>
              <a:gd name="adj" fmla="val 25909"/>
            </a:avLst>
          </a:prstGeom>
          <a:solidFill>
            <a:srgbClr val="FFFFFF">
              <a:alpha val="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62" name="Shape 47"/>
          <p:cNvSpPr/>
          <p:nvPr/>
        </p:nvSpPr>
        <p:spPr>
          <a:xfrm>
            <a:off x="8442655" y="5270602"/>
            <a:ext cx="304495" cy="304495"/>
          </a:xfrm>
          <a:prstGeom prst="roundRect">
            <a:avLst>
              <a:gd name="adj" fmla="val 112613"/>
            </a:avLst>
          </a:prstGeom>
          <a:solidFill>
            <a:srgbClr val="34D3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63" name="Image 13" descr="preencoded.png"/>
          <p:cNvPicPr>
            <a:picLocks noChangeAspect="1"/>
          </p:cNvPicPr>
          <p:nvPr/>
        </p:nvPicPr>
        <p:blipFill>
          <a:blip r:embed="rId16"/>
          <a:srcRect/>
          <a:stretch/>
        </p:blipFill>
        <p:spPr>
          <a:xfrm>
            <a:off x="8527694" y="5356555"/>
            <a:ext cx="133502" cy="133502"/>
          </a:xfrm>
          <a:prstGeom prst="rect">
            <a:avLst/>
          </a:prstGeom>
        </p:spPr>
      </p:pic>
      <p:sp>
        <p:nvSpPr>
          <p:cNvPr id="64" name="Text 48"/>
          <p:cNvSpPr txBox="1"/>
          <p:nvPr/>
        </p:nvSpPr>
        <p:spPr>
          <a:xfrm>
            <a:off x="8899855" y="5270602"/>
            <a:ext cx="2448763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On-prem Deployment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CBD5E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Containerized option for air-gapped secure environments.</a:t>
            </a:r>
            <a:endParaRPr lang="en-US" sz="1000" dirty="0"/>
          </a:p>
        </p:txBody>
      </p:sp>
      <p:pic>
        <p:nvPicPr>
          <p:cNvPr id="65" name="Image 14" descr="preencoded.png"/>
          <p:cNvPicPr>
            <a:picLocks noChangeAspect="1"/>
          </p:cNvPicPr>
          <p:nvPr/>
        </p:nvPicPr>
        <p:blipFill>
          <a:blip r:embed="rId17"/>
          <a:srcRect t="-173" b="-173"/>
          <a:stretch/>
        </p:blipFill>
        <p:spPr>
          <a:xfrm>
            <a:off x="2241194" y="1832458"/>
            <a:ext cx="190195" cy="179222"/>
          </a:xfrm>
          <a:prstGeom prst="rect">
            <a:avLst/>
          </a:prstGeom>
        </p:spPr>
      </p:pic>
      <p:pic>
        <p:nvPicPr>
          <p:cNvPr id="66" name="Image 15" descr="preencoded.png"/>
          <p:cNvPicPr>
            <a:picLocks noChangeAspect="1"/>
          </p:cNvPicPr>
          <p:nvPr/>
        </p:nvPicPr>
        <p:blipFill>
          <a:blip r:embed="rId18"/>
          <a:srcRect t="-173" b="-173"/>
          <a:stretch/>
        </p:blipFill>
        <p:spPr>
          <a:xfrm>
            <a:off x="6000293" y="1832458"/>
            <a:ext cx="190195" cy="179222"/>
          </a:xfrm>
          <a:prstGeom prst="rect">
            <a:avLst/>
          </a:prstGeom>
        </p:spPr>
      </p:pic>
      <p:pic>
        <p:nvPicPr>
          <p:cNvPr id="67" name="Image 16" descr="preencoded.png"/>
          <p:cNvPicPr>
            <a:picLocks noChangeAspect="1"/>
          </p:cNvPicPr>
          <p:nvPr/>
        </p:nvPicPr>
        <p:blipFill>
          <a:blip r:embed="rId19"/>
          <a:srcRect t="-173" b="-173"/>
          <a:stretch/>
        </p:blipFill>
        <p:spPr>
          <a:xfrm>
            <a:off x="9760306" y="1832458"/>
            <a:ext cx="190195" cy="17922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76695" y="-952805"/>
            <a:ext cx="6667805" cy="6667805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-952805" y="2572207"/>
            <a:ext cx="5715000" cy="57150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609905" y="1071061"/>
            <a:ext cx="6181344" cy="1304849"/>
          </a:xfrm>
          <a:prstGeom prst="roundRect">
            <a:avLst>
              <a:gd name="adj" fmla="val 12276"/>
            </a:avLst>
          </a:prstGeom>
          <a:solidFill>
            <a:srgbClr val="1E293B">
              <a:alpha val="6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  <a:effectLst>
            <a:outerShdw blurRad="63500" dist="38100" dir="162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SG"/>
          </a:p>
        </p:txBody>
      </p:sp>
      <p:sp>
        <p:nvSpPr>
          <p:cNvPr id="6" name="Shape 2"/>
          <p:cNvSpPr/>
          <p:nvPr/>
        </p:nvSpPr>
        <p:spPr>
          <a:xfrm>
            <a:off x="609905" y="1071061"/>
            <a:ext cx="38405" cy="1304849"/>
          </a:xfrm>
          <a:prstGeom prst="roundRect">
            <a:avLst>
              <a:gd name="adj" fmla="val 417099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7" name="Text 3"/>
          <p:cNvSpPr txBox="1"/>
          <p:nvPr/>
        </p:nvSpPr>
        <p:spPr>
          <a:xfrm>
            <a:off x="1181405" y="1308805"/>
            <a:ext cx="5410505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kern="0" spc="51" dirty="0">
                <a:solidFill>
                  <a:srgbClr val="38BDF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Core Value Proposition</a:t>
            </a:r>
            <a:endParaRPr lang="en-US" sz="10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rcRect l="-837" r="-837"/>
          <a:stretch/>
        </p:blipFill>
        <p:spPr>
          <a:xfrm>
            <a:off x="952805" y="1338980"/>
            <a:ext cx="152705" cy="133502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952805" y="1579468"/>
            <a:ext cx="5605272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Faster, fairer, and scalable hiring through RAG-grounded AI on Azure.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609905" y="2600852"/>
            <a:ext cx="3019349" cy="1552651"/>
          </a:xfrm>
          <a:prstGeom prst="roundRect">
            <a:avLst>
              <a:gd name="adj" fmla="val 867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1" name="Shape 6"/>
          <p:cNvSpPr/>
          <p:nvPr/>
        </p:nvSpPr>
        <p:spPr>
          <a:xfrm>
            <a:off x="809244" y="2801106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A78BFA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905256" y="2896204"/>
            <a:ext cx="190195" cy="190195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09244" y="3295796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LLM + RAG</a:t>
            </a:r>
            <a:endParaRPr lang="en-US" sz="1200" dirty="0"/>
          </a:p>
        </p:txBody>
      </p:sp>
      <p:sp>
        <p:nvSpPr>
          <p:cNvPr id="14" name="Text 8"/>
          <p:cNvSpPr txBox="1"/>
          <p:nvPr/>
        </p:nvSpPr>
        <p:spPr>
          <a:xfrm>
            <a:off x="809244" y="3562801"/>
            <a:ext cx="269565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Intelligent reasoning with grounded data retrieval.</a:t>
            </a:r>
            <a:endParaRPr lang="en-US" sz="1000" dirty="0"/>
          </a:p>
        </p:txBody>
      </p:sp>
      <p:sp>
        <p:nvSpPr>
          <p:cNvPr id="15" name="Shape 9"/>
          <p:cNvSpPr/>
          <p:nvPr/>
        </p:nvSpPr>
        <p:spPr>
          <a:xfrm>
            <a:off x="3774643" y="2600852"/>
            <a:ext cx="3019349" cy="1552651"/>
          </a:xfrm>
          <a:prstGeom prst="roundRect">
            <a:avLst>
              <a:gd name="adj" fmla="val 867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16" name="Shape 10"/>
          <p:cNvSpPr/>
          <p:nvPr/>
        </p:nvSpPr>
        <p:spPr>
          <a:xfrm>
            <a:off x="3974897" y="2898032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8BDF8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rcRect l="-1648" r="-1648"/>
          <a:stretch/>
        </p:blipFill>
        <p:spPr>
          <a:xfrm>
            <a:off x="4080053" y="2993130"/>
            <a:ext cx="171907" cy="190195"/>
          </a:xfrm>
          <a:prstGeom prst="rect">
            <a:avLst/>
          </a:prstGeom>
        </p:spPr>
      </p:pic>
      <p:sp>
        <p:nvSpPr>
          <p:cNvPr id="18" name="Text 11"/>
          <p:cNvSpPr txBox="1"/>
          <p:nvPr/>
        </p:nvSpPr>
        <p:spPr>
          <a:xfrm>
            <a:off x="3974897" y="3393637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Azure-Native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3974897" y="3659728"/>
            <a:ext cx="290322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Robust, secure cloud infrastructure.</a:t>
            </a:r>
            <a:endParaRPr lang="en-US" sz="1000" dirty="0"/>
          </a:p>
        </p:txBody>
      </p:sp>
      <p:sp>
        <p:nvSpPr>
          <p:cNvPr id="20" name="Shape 13"/>
          <p:cNvSpPr/>
          <p:nvPr/>
        </p:nvSpPr>
        <p:spPr>
          <a:xfrm>
            <a:off x="609905" y="4304380"/>
            <a:ext cx="3019349" cy="1552651"/>
          </a:xfrm>
          <a:prstGeom prst="roundRect">
            <a:avLst>
              <a:gd name="adj" fmla="val 867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1" name="Shape 14"/>
          <p:cNvSpPr/>
          <p:nvPr/>
        </p:nvSpPr>
        <p:spPr>
          <a:xfrm>
            <a:off x="809244" y="4601560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F472B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81482" y="4696657"/>
            <a:ext cx="237744" cy="190195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809244" y="5096250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Conversational</a:t>
            </a:r>
            <a:endParaRPr lang="en-US" sz="1200" dirty="0"/>
          </a:p>
        </p:txBody>
      </p:sp>
      <p:sp>
        <p:nvSpPr>
          <p:cNvPr id="24" name="Text 16"/>
          <p:cNvSpPr txBox="1"/>
          <p:nvPr/>
        </p:nvSpPr>
        <p:spPr>
          <a:xfrm>
            <a:off x="809244" y="5363255"/>
            <a:ext cx="311719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Natural language interface for HR teams.</a:t>
            </a:r>
            <a:endParaRPr lang="en-US" sz="1000" dirty="0"/>
          </a:p>
        </p:txBody>
      </p:sp>
      <p:sp>
        <p:nvSpPr>
          <p:cNvPr id="25" name="Shape 17"/>
          <p:cNvSpPr/>
          <p:nvPr/>
        </p:nvSpPr>
        <p:spPr>
          <a:xfrm>
            <a:off x="3774643" y="4304380"/>
            <a:ext cx="3019349" cy="1552651"/>
          </a:xfrm>
          <a:prstGeom prst="roundRect">
            <a:avLst>
              <a:gd name="adj" fmla="val 8671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26" name="Shape 18"/>
          <p:cNvSpPr/>
          <p:nvPr/>
        </p:nvSpPr>
        <p:spPr>
          <a:xfrm>
            <a:off x="3974897" y="4503719"/>
            <a:ext cx="381305" cy="381305"/>
          </a:xfrm>
          <a:prstGeom prst="roundRect">
            <a:avLst>
              <a:gd name="adj" fmla="val 95923"/>
            </a:avLst>
          </a:prstGeom>
          <a:solidFill>
            <a:srgbClr val="34D399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4069994" y="4599731"/>
            <a:ext cx="190195" cy="190195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3974897" y="4999324"/>
            <a:ext cx="27249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E2E8F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Defensible</a:t>
            </a:r>
            <a:endParaRPr lang="en-US" sz="1200" dirty="0"/>
          </a:p>
        </p:txBody>
      </p:sp>
      <p:sp>
        <p:nvSpPr>
          <p:cNvPr id="29" name="Text 20"/>
          <p:cNvSpPr txBox="1"/>
          <p:nvPr/>
        </p:nvSpPr>
        <p:spPr>
          <a:xfrm>
            <a:off x="3974897" y="5266328"/>
            <a:ext cx="2695651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rankings aligned to JD criteria.</a:t>
            </a:r>
            <a:endParaRPr lang="en-US" sz="1000" dirty="0"/>
          </a:p>
        </p:txBody>
      </p:sp>
      <p:sp>
        <p:nvSpPr>
          <p:cNvPr id="30" name="Shape 21"/>
          <p:cNvSpPr/>
          <p:nvPr/>
        </p:nvSpPr>
        <p:spPr>
          <a:xfrm>
            <a:off x="609905" y="6083802"/>
            <a:ext cx="6181344" cy="866851"/>
          </a:xfrm>
          <a:prstGeom prst="roundRect">
            <a:avLst>
              <a:gd name="adj" fmla="val 27820"/>
            </a:avLst>
          </a:prstGeom>
          <a:solidFill>
            <a:srgbClr val="10B981">
              <a:alpha val="10000"/>
            </a:srgbClr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1" name="Text 22"/>
          <p:cNvSpPr txBox="1"/>
          <p:nvPr/>
        </p:nvSpPr>
        <p:spPr>
          <a:xfrm>
            <a:off x="923544" y="6283141"/>
            <a:ext cx="413400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34D39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Steps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923544" y="7136892"/>
            <a:ext cx="470550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D1FAE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Pilot with sample roles/JDs &amp; gather stakeholder feedback.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6092647" y="6323375"/>
            <a:ext cx="381305" cy="381305"/>
          </a:xfrm>
          <a:prstGeom prst="ellipse">
            <a:avLst/>
          </a:prstGeom>
          <a:solidFill>
            <a:srgbClr val="34D39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10"/>
          <a:srcRect t="-43" b="-43"/>
          <a:stretch/>
        </p:blipFill>
        <p:spPr>
          <a:xfrm>
            <a:off x="6217006" y="7047281"/>
            <a:ext cx="133502" cy="152705"/>
          </a:xfrm>
          <a:prstGeom prst="rect">
            <a:avLst/>
          </a:prstGeom>
        </p:spPr>
      </p:pic>
      <p:sp>
        <p:nvSpPr>
          <p:cNvPr id="35" name="Shape 25"/>
          <p:cNvSpPr/>
          <p:nvPr/>
        </p:nvSpPr>
        <p:spPr>
          <a:xfrm>
            <a:off x="7168896" y="4749213"/>
            <a:ext cx="4419295" cy="1904695"/>
          </a:xfrm>
          <a:prstGeom prst="roundRect">
            <a:avLst>
              <a:gd name="adj" fmla="val 5761"/>
            </a:avLst>
          </a:prstGeom>
          <a:solidFill>
            <a:srgbClr val="0F172A">
              <a:alpha val="60000"/>
            </a:srgbClr>
          </a:solidFill>
          <a:ln/>
        </p:spPr>
        <p:txBody>
          <a:bodyPr/>
          <a:lstStyle/>
          <a:p>
            <a:endParaRPr lang="en-SG"/>
          </a:p>
        </p:txBody>
      </p:sp>
      <p:sp>
        <p:nvSpPr>
          <p:cNvPr id="36" name="Shape 26"/>
          <p:cNvSpPr/>
          <p:nvPr/>
        </p:nvSpPr>
        <p:spPr>
          <a:xfrm>
            <a:off x="7168896" y="4749213"/>
            <a:ext cx="4419295" cy="9144"/>
          </a:xfrm>
          <a:prstGeom prst="roundRect">
            <a:avLst>
              <a:gd name="adj" fmla="val 120000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37" name="Text 27"/>
          <p:cNvSpPr txBox="1"/>
          <p:nvPr/>
        </p:nvSpPr>
        <p:spPr>
          <a:xfrm>
            <a:off x="7397496" y="4986957"/>
            <a:ext cx="40773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96" dirty="0">
                <a:solidFill>
                  <a:srgbClr val="64748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Contact Information</a:t>
            </a:r>
            <a:endParaRPr lang="en-US" sz="900" dirty="0"/>
          </a:p>
        </p:txBody>
      </p:sp>
      <p:sp>
        <p:nvSpPr>
          <p:cNvPr id="38" name="Text 28"/>
          <p:cNvSpPr txBox="1"/>
          <p:nvPr/>
        </p:nvSpPr>
        <p:spPr>
          <a:xfrm>
            <a:off x="7397496" y="5322541"/>
            <a:ext cx="407731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1F5F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TEAM PROJECT METCH</a:t>
            </a:r>
            <a:endParaRPr lang="en-US" sz="1300" dirty="0"/>
          </a:p>
        </p:txBody>
      </p:sp>
      <p:sp>
        <p:nvSpPr>
          <p:cNvPr id="39" name="Text 29"/>
          <p:cNvSpPr txBox="1"/>
          <p:nvPr/>
        </p:nvSpPr>
        <p:spPr>
          <a:xfrm>
            <a:off x="7664501" y="5649897"/>
            <a:ext cx="13944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NUS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7664501" y="5932446"/>
            <a:ext cx="204642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Team@u.nus.edu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7664501" y="6214081"/>
            <a:ext cx="201808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github.com/</a:t>
            </a:r>
            <a:r>
              <a:rPr lang="en-US" sz="1000" dirty="0" err="1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AIAssist</a:t>
            </a:r>
            <a:endParaRPr lang="en-US" sz="1000" dirty="0"/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7407554" y="5686473"/>
            <a:ext cx="133502" cy="133502"/>
          </a:xfrm>
          <a:prstGeom prst="rect">
            <a:avLst/>
          </a:prstGeom>
        </p:spPr>
      </p:pic>
      <p:pic>
        <p:nvPicPr>
          <p:cNvPr id="43" name="Image 9" descr="preencoded.png"/>
          <p:cNvPicPr>
            <a:picLocks noChangeAspect="1"/>
          </p:cNvPicPr>
          <p:nvPr/>
        </p:nvPicPr>
        <p:blipFill>
          <a:blip r:embed="rId12"/>
          <a:srcRect/>
          <a:stretch/>
        </p:blipFill>
        <p:spPr>
          <a:xfrm>
            <a:off x="7407554" y="5968108"/>
            <a:ext cx="133502" cy="133502"/>
          </a:xfrm>
          <a:prstGeom prst="rect">
            <a:avLst/>
          </a:prstGeom>
        </p:spPr>
      </p:pic>
      <p:pic>
        <p:nvPicPr>
          <p:cNvPr id="44" name="Image 10" descr="preencoded.png"/>
          <p:cNvPicPr>
            <a:picLocks noChangeAspect="1"/>
          </p:cNvPicPr>
          <p:nvPr/>
        </p:nvPicPr>
        <p:blipFill>
          <a:blip r:embed="rId13"/>
          <a:srcRect l="-1613" r="-1613"/>
          <a:stretch/>
        </p:blipFill>
        <p:spPr>
          <a:xfrm>
            <a:off x="7407554" y="6250657"/>
            <a:ext cx="133502" cy="133502"/>
          </a:xfrm>
          <a:prstGeom prst="rect">
            <a:avLst/>
          </a:prstGeom>
        </p:spPr>
      </p:pic>
      <p:sp>
        <p:nvSpPr>
          <p:cNvPr id="45" name="Shape 32"/>
          <p:cNvSpPr/>
          <p:nvPr/>
        </p:nvSpPr>
        <p:spPr>
          <a:xfrm>
            <a:off x="595732" y="699296"/>
            <a:ext cx="571500" cy="38405"/>
          </a:xfrm>
          <a:prstGeom prst="roundRect">
            <a:avLst>
              <a:gd name="adj" fmla="val 2380940"/>
            </a:avLst>
          </a:prstGeom>
          <a:solidFill>
            <a:srgbClr val="38BDF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sp>
        <p:nvSpPr>
          <p:cNvPr id="46" name="Text 33"/>
          <p:cNvSpPr txBox="1"/>
          <p:nvPr/>
        </p:nvSpPr>
        <p:spPr>
          <a:xfrm>
            <a:off x="568614" y="64097"/>
            <a:ext cx="11163910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Conclusion &amp; Q&amp;A</a:t>
            </a:r>
            <a:endParaRPr lang="en-US" sz="3300" dirty="0"/>
          </a:p>
        </p:txBody>
      </p:sp>
      <p:sp>
        <p:nvSpPr>
          <p:cNvPr id="47" name="Text 34"/>
          <p:cNvSpPr txBox="1"/>
          <p:nvPr/>
        </p:nvSpPr>
        <p:spPr>
          <a:xfrm>
            <a:off x="609905" y="1123798"/>
            <a:ext cx="11087100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94A3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Summary of Project Metch and open discussion</a:t>
            </a:r>
            <a:endParaRPr lang="en-US" sz="1300" dirty="0"/>
          </a:p>
        </p:txBody>
      </p:sp>
      <p:sp>
        <p:nvSpPr>
          <p:cNvPr id="48" name="Shape 35"/>
          <p:cNvSpPr/>
          <p:nvPr/>
        </p:nvSpPr>
        <p:spPr>
          <a:xfrm>
            <a:off x="7168896" y="775230"/>
            <a:ext cx="4419295" cy="3752698"/>
          </a:xfrm>
          <a:prstGeom prst="roundRect">
            <a:avLst>
              <a:gd name="adj" fmla="val 1979"/>
            </a:avLst>
          </a:prstGeom>
          <a:solidFill>
            <a:srgbClr val="1E293B">
              <a:alpha val="3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  <p:txBody>
          <a:bodyPr/>
          <a:lstStyle/>
          <a:p>
            <a:endParaRPr lang="en-SG"/>
          </a:p>
        </p:txBody>
      </p:sp>
      <p:pic>
        <p:nvPicPr>
          <p:cNvPr id="49" name="Image 11" descr="preencoded.png"/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8423453" y="1695117"/>
            <a:ext cx="1904695" cy="190469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8651138" y="2102939"/>
            <a:ext cx="1574597" cy="7626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000" b="1" dirty="0">
                <a:solidFill>
                  <a:srgbClr val="F8FAF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Q&amp;A</a:t>
            </a:r>
            <a:endParaRPr lang="en-US" sz="6000" dirty="0"/>
          </a:p>
        </p:txBody>
      </p:sp>
      <p:sp>
        <p:nvSpPr>
          <p:cNvPr id="51" name="Text 37"/>
          <p:cNvSpPr txBox="1"/>
          <p:nvPr/>
        </p:nvSpPr>
        <p:spPr>
          <a:xfrm>
            <a:off x="8588045" y="2986159"/>
            <a:ext cx="2244852" cy="2578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A78BF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Questions &amp; Discussion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1357</Words>
  <Application>Microsoft Office PowerPoint</Application>
  <PresentationFormat>Widescreen</PresentationFormat>
  <Paragraphs>286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Inter</vt:lpstr>
      <vt:lpstr>Space Grotesk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Stalin Sahayaraj</cp:lastModifiedBy>
  <cp:revision>4</cp:revision>
  <dcterms:created xsi:type="dcterms:W3CDTF">2026-03-14T13:26:56Z</dcterms:created>
  <dcterms:modified xsi:type="dcterms:W3CDTF">2026-03-14T13:56:44Z</dcterms:modified>
</cp:coreProperties>
</file>